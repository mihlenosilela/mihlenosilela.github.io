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50aaab65-3bb7-02b7-ed1b-1f0497128e5d}">
          <p14:sldIdLst>
            <p14:sldId id="256"/>
          </p14:sldIdLst>
        </p14:section>
        <p14:section name="Problem" id="{88051cf3-2e7e-5f4b-116c-02debb8a7b1a}">
          <p14:sldIdLst>
            <p14:sldId id="257"/>
          </p14:sldIdLst>
        </p14:section>
        <p14:section name="Business model" id="{295f6e38-2278-3230-8d47-a963da08e28c}">
          <p14:sldIdLst>
            <p14:sldId id="258"/>
            <p14:sldId id="259"/>
            <p14:sldId id="260"/>
          </p14:sldIdLst>
        </p14:section>
        <p14:section name="Close" id="{4f4a8043-6169-20ab-b17a-1b225559645a}">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[~10s] Good day. We are the ICT Branded team, and this is ItemHive: the simplest way for ICT students to buy gear that shows who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[~35s] ICT students are proud of what they study, but buying that identity is a project. Orders get lost in DMs and group chats, stock is unclear, and paying a stranger feels risky. Then someone has to arrange delivery to residence or across campus. It matters because belonging drives merch demand, and students are cost and trust sensitive: if buying is clumsy, they simply don't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[~35s] ItemHive replaces that chaos with one web app. Students browse a live catalogue, pay by card or EFT, get an email confirmation, and choose free residence delivery or PAXI store-to-store, with a 20% student discount. Our value proposition: ICT-branded gear in minutes, safely. Compared with ordering through chats, it is faster, simpler and easier to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[~35s] Our customers are ICT students, plus classes and societies who order in bulk. We reach them through the web app and deliver where they live. We keep the relationship self-service and personal: verified accounts, confirmation emails and a student discount that gives them a reason to come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Behind the scenes, our key activities are designing and curating merch, running the store and fulfilling orders. Our resources are the brand, our React and Spring Boot platform and an admin dashboard. We partner with a print supplier, PAXI and payment providers. Revenue comes from item sales at roughly R120 to R240, plus bulk orders from classes and societies. Our main costs are stock and printing, free residence delivery and the student discount, while platform costs stay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In short: ItemHive makes buying ICT gear simple, safe and student-priced, and gives us a lean business that grows with every class, society and new design. Code. Create. Connect.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01D5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920240"/>
            <a:ext cx="5669280" cy="13716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1005840"/>
          </a:xfrm>
          <a:prstGeom prst="rect">
            <a:avLst/>
          </a:prstGeom>
          <a:noFill/>
          <a:ln/>
        </p:spPr>
        <p:txBody>
          <a:bodyPr wrap="square" rtlCol="0"/>
          <a:lstStyle>
            <a:lvl1pPr indent="0" marL="0">
              <a:buNone/>
              <a:defRPr lang="en-US" sz="3600" b="1" dirty="0">
                <a:solidFill>
                  <a:schemeClr val="tx1"/>
                </a:solidFill>
              </a:defRPr>
            </a:lvl1pPr>
          </a:lstStyle>
          <a:p>
            <a:pPr indent="0" marL="0">
              <a:buNone/>
            </a:pPr>
            <a:endParaRPr lang="en-US" sz="3600" dirty="0"/>
          </a:p>
        </p:txBody>
      </p:sp>
      <p:sp>
        <p:nvSpPr>
          <p:cNvPr id="3" name="Text 0"/>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7390"/>
                </a:solidFill>
              </a:rPr>
              <a:t>ItemHive  |  CODE.CREATE.CONNECT</a:t>
            </a:r>
            <a:endParaRPr lang="en-US" sz="10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orange circle"/>
          <p:cNvSpPr/>
          <p:nvPr/>
        </p:nvSpPr>
        <p:spPr>
          <a:xfrm>
            <a:off x="7040880" y="1371600"/>
            <a:ext cx="4480560" cy="4480560"/>
          </a:xfrm>
          <a:prstGeom prst="ellipse">
            <a:avLst/>
          </a:prstGeom>
          <a:solidFill>
            <a:schemeClr val="accent1"/>
          </a:solidFill>
          <a:ln/>
        </p:spPr>
      </p:sp>
      <p:pic>
        <p:nvPicPr>
          <p:cNvPr id="3" name="ItemHive logo" descr="ItemHive logo">    </p:cNvPr>
          <p:cNvPicPr>
            <a:picLocks noChangeAspect="1"/>
          </p:cNvPicPr>
          <p:nvPr/>
        </p:nvPicPr>
        <p:blipFill>
          <a:blip r:embed="rId1"/>
          <a:stretch>
            <a:fillRect/>
          </a:stretch>
        </p:blipFill>
        <p:spPr>
          <a:xfrm>
            <a:off x="640080" y="457200"/>
            <a:ext cx="868680" cy="868680"/>
          </a:xfrm>
          <a:prstGeom prst="rect">
            <a:avLst/>
          </a:prstGeom>
        </p:spPr>
      </p:pic>
      <p:sp>
        <p:nvSpPr>
          <p:cNvPr id="4" name="Text 1"/>
          <p:cNvSpPr txBox="1"/>
          <p:nvPr/>
        </p:nvSpPr>
        <p:spPr>
          <a:xfrm>
            <a:off x="640080" y="1554480"/>
            <a:ext cx="5669280" cy="320040"/>
          </a:xfrm>
          <a:prstGeom prst="rect">
            <a:avLst/>
          </a:prstGeom>
          <a:noFill/>
          <a:ln/>
        </p:spPr>
        <p:txBody>
          <a:bodyPr wrap="square" lIns="0" tIns="0" rIns="0" bIns="0" rtlCol="0" anchor="t"/>
          <a:lstStyle/>
          <a:p>
            <a:pPr indent="0" marL="0">
              <a:buNone/>
            </a:pPr>
            <a:r>
              <a:rPr lang="en-US" sz="1400" b="1" spc="200" kern="0" dirty="0">
                <a:solidFill>
                  <a:schemeClr val="accent1"/>
                </a:solidFill>
              </a:rPr>
              <a:t>ITEMHIVE  |  BUSINESS MODEL PITCH</a:t>
            </a:r>
            <a:endParaRPr lang="en-US" sz="1400" dirty="0"/>
          </a:p>
        </p:txBody>
      </p:sp>
      <p:sp>
        <p:nvSpPr>
          <p:cNvPr id="5" name="Text 0"/>
          <p:cNvSpPr/>
          <p:nvPr>
            <p:ph idx="100" type="title" hasCustomPrompt="1"/>
          </p:nvPr>
        </p:nvSpPr>
        <p:spPr>
          <a:xfrm>
            <a:off x="640080" y="1920240"/>
            <a:ext cx="5669280" cy="1371600"/>
          </a:xfrm>
          <a:prstGeom prst="rect">
            <a:avLst/>
          </a:prstGeom>
          <a:noFill/>
          <a:ln/>
        </p:spPr>
        <p:txBody>
          <a:bodyPr wrap="square" lIns="0" tIns="0" rIns="0" bIns="0" rtlCol="0" anchor="ctr"/>
          <a:lstStyle/>
          <a:p>
            <a:pPr algn="l" indent="0" marL="0">
              <a:buNone/>
            </a:pPr>
            <a:r>
              <a:rPr lang="en-US" sz="5400" b="1" dirty="0">
                <a:solidFill>
                  <a:schemeClr val="bg1"/>
                </a:solidFill>
              </a:rPr>
              <a:t>Wear your code.</a:t>
            </a:r>
            <a:endParaRPr lang="en-US" sz="5400" dirty="0"/>
          </a:p>
        </p:txBody>
      </p:sp>
      <p:sp>
        <p:nvSpPr>
          <p:cNvPr id="6" name="Text 3"/>
          <p:cNvSpPr txBox="1"/>
          <p:nvPr/>
        </p:nvSpPr>
        <p:spPr>
          <a:xfrm>
            <a:off x="640080" y="3474720"/>
            <a:ext cx="5486400" cy="822960"/>
          </a:xfrm>
          <a:prstGeom prst="rect">
            <a:avLst/>
          </a:prstGeom>
          <a:noFill/>
          <a:ln/>
        </p:spPr>
        <p:txBody>
          <a:bodyPr wrap="square" lIns="0" tIns="0" rIns="0" bIns="0" rtlCol="0" anchor="t"/>
          <a:lstStyle/>
          <a:p>
            <a:pPr indent="0" marL="0">
              <a:buNone/>
            </a:pPr>
            <a:r>
              <a:rPr lang="en-US" sz="2200" dirty="0">
                <a:solidFill>
                  <a:schemeClr val="bg1"/>
                </a:solidFill>
              </a:rPr>
              <a:t>ICT-branded student gear, ordered in minutes.</a:t>
            </a:r>
            <a:endParaRPr lang="en-US" sz="2200" dirty="0"/>
          </a:p>
        </p:txBody>
      </p:sp>
      <p:sp>
        <p:nvSpPr>
          <p:cNvPr id="7" name="Text 4"/>
          <p:cNvSpPr txBox="1"/>
          <p:nvPr/>
        </p:nvSpPr>
        <p:spPr>
          <a:xfrm>
            <a:off x="640080" y="5394960"/>
            <a:ext cx="5669280" cy="548640"/>
          </a:xfrm>
          <a:prstGeom prst="rect">
            <a:avLst/>
          </a:prstGeom>
          <a:noFill/>
          <a:ln/>
        </p:spPr>
        <p:txBody>
          <a:bodyPr wrap="square" lIns="0" tIns="0" rIns="0" bIns="0" rtlCol="0" anchor="t"/>
          <a:lstStyle/>
          <a:p>
            <a:pPr indent="0" marL="0">
              <a:buNone/>
            </a:pPr>
            <a:r>
              <a:rPr lang="en-US" sz="1200" dirty="0">
                <a:solidFill>
                  <a:srgbClr val="CCCCCC"/>
                </a:solidFill>
              </a:rPr>
              <a:t>Siphokuhle Nyana  |  Olwethu Mtwazi  |  Mihle Nosilela  |  Sinobawo Nkomo  |  Athini Ngquke  |  Ricardo Mukwevho</a:t>
            </a:r>
            <a:endParaRPr lang="en-US" sz="1200" dirty="0"/>
          </a:p>
        </p:txBody>
      </p:sp>
      <p:pic>
        <p:nvPicPr>
          <p:cNvPr id="8" name="Tee tee1" descr="ICT branded t-shirt, back print">    </p:cNvPr>
          <p:cNvPicPr>
            <a:picLocks noChangeAspect="1"/>
          </p:cNvPicPr>
          <p:nvPr/>
        </p:nvPicPr>
        <p:blipFill>
          <a:blip r:embed="rId2"/>
          <a:stretch>
            <a:fillRect/>
          </a:stretch>
        </p:blipFill>
        <p:spPr>
          <a:xfrm>
            <a:off x="6400800" y="1097280"/>
            <a:ext cx="1746504" cy="3108960"/>
          </a:xfrm>
          <a:prstGeom prst="rect">
            <a:avLst/>
          </a:prstGeom>
        </p:spPr>
      </p:pic>
      <p:pic>
        <p:nvPicPr>
          <p:cNvPr id="9" name="Tee tee2" descr="ICT branded t-shirt, back print">    </p:cNvPr>
          <p:cNvPicPr>
            <a:picLocks noChangeAspect="1"/>
          </p:cNvPicPr>
          <p:nvPr/>
        </p:nvPicPr>
        <p:blipFill>
          <a:blip r:embed="rId3"/>
          <a:stretch>
            <a:fillRect/>
          </a:stretch>
        </p:blipFill>
        <p:spPr>
          <a:xfrm>
            <a:off x="8183880" y="2103120"/>
            <a:ext cx="1746504" cy="3108960"/>
          </a:xfrm>
          <a:prstGeom prst="rect">
            <a:avLst/>
          </a:prstGeom>
        </p:spPr>
      </p:pic>
      <p:pic>
        <p:nvPicPr>
          <p:cNvPr id="10" name="Tee tee3" descr="ICT branded t-shirt, back print">    </p:cNvPr>
          <p:cNvPicPr>
            <a:picLocks noChangeAspect="1"/>
          </p:cNvPicPr>
          <p:nvPr/>
        </p:nvPicPr>
        <p:blipFill>
          <a:blip r:embed="rId4"/>
          <a:stretch>
            <a:fillRect/>
          </a:stretch>
        </p:blipFill>
        <p:spPr>
          <a:xfrm>
            <a:off x="9966960" y="1463040"/>
            <a:ext cx="1746504" cy="3108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1005840"/>
          </a:xfrm>
          <a:prstGeom prst="rect">
            <a:avLst/>
          </a:prstGeom>
          <a:noFill/>
          <a:ln/>
        </p:spPr>
        <p:txBody>
          <a:bodyPr wrap="square" lIns="0" tIns="0" rIns="0" bIns="0" rtlCol="0" anchor="ctr"/>
          <a:lstStyle/>
          <a:p>
            <a:pPr indent="0" marL="0">
              <a:buNone/>
            </a:pPr>
            <a:r>
              <a:rPr lang="en-US" sz="3600" b="1" dirty="0">
                <a:solidFill>
                  <a:schemeClr val="tx1"/>
                </a:solidFill>
              </a:rPr>
              <a:t>Student pride is easy. Buying it isn't</a:t>
            </a:r>
            <a:endParaRPr lang="en-US" sz="3600" dirty="0"/>
          </a:p>
        </p:txBody>
      </p:sp>
      <p:sp>
        <p:nvSpPr>
          <p:cNvPr id="3" name="Problem card 1"/>
          <p:cNvSpPr/>
          <p:nvPr/>
        </p:nvSpPr>
        <p:spPr>
          <a:xfrm>
            <a:off x="640080" y="1691640"/>
            <a:ext cx="6766560" cy="1325880"/>
          </a:xfrm>
          <a:prstGeom prst="roundRect">
            <a:avLst>
              <a:gd name="adj" fmla="val 8276"/>
            </a:avLst>
          </a:prstGeom>
          <a:solidFill>
            <a:schemeClr val="bg2"/>
          </a:solidFill>
          <a:ln/>
        </p:spPr>
      </p:sp>
      <p:sp>
        <p:nvSpPr>
          <p:cNvPr id="4" name="Problem 1 circle"/>
          <p:cNvSpPr/>
          <p:nvPr/>
        </p:nvSpPr>
        <p:spPr>
          <a:xfrm>
            <a:off x="868680" y="1965960"/>
            <a:ext cx="777240" cy="777240"/>
          </a:xfrm>
          <a:prstGeom prst="ellipse">
            <a:avLst/>
          </a:prstGeom>
          <a:solidFill>
            <a:schemeClr val="accent1"/>
          </a:solidFill>
          <a:ln/>
        </p:spPr>
      </p:sp>
      <p:pic>
        <p:nvPicPr>
          <p:cNvPr id="5" name="Problem 1 icon" descr="Problem 1">    </p:cNvPr>
          <p:cNvPicPr>
            <a:picLocks noChangeAspect="1"/>
          </p:cNvPicPr>
          <p:nvPr/>
        </p:nvPicPr>
        <p:blipFill>
          <a:blip r:embed="rId1"/>
          <a:stretch>
            <a:fillRect/>
          </a:stretch>
        </p:blipFill>
        <p:spPr>
          <a:xfrm>
            <a:off x="1078535" y="2175815"/>
            <a:ext cx="357530" cy="357530"/>
          </a:xfrm>
          <a:prstGeom prst="rect">
            <a:avLst/>
          </a:prstGeom>
        </p:spPr>
      </p:pic>
      <p:sp>
        <p:nvSpPr>
          <p:cNvPr id="6" name="Text 3"/>
          <p:cNvSpPr txBox="1"/>
          <p:nvPr/>
        </p:nvSpPr>
        <p:spPr>
          <a:xfrm>
            <a:off x="1965960" y="1892808"/>
            <a:ext cx="5212080" cy="411480"/>
          </a:xfrm>
          <a:prstGeom prst="rect">
            <a:avLst/>
          </a:prstGeom>
          <a:noFill/>
          <a:ln/>
        </p:spPr>
        <p:txBody>
          <a:bodyPr wrap="square" lIns="0" tIns="0" rIns="0" bIns="0" rtlCol="0" anchor="t"/>
          <a:lstStyle/>
          <a:p>
            <a:pPr indent="0" marL="0">
              <a:buNone/>
            </a:pPr>
            <a:r>
              <a:rPr lang="en-US" sz="2000" b="1" dirty="0">
                <a:solidFill>
                  <a:schemeClr val="tx1"/>
                </a:solidFill>
              </a:rPr>
              <a:t>Orders buried in DMs and group chats</a:t>
            </a:r>
            <a:endParaRPr lang="en-US" sz="2000" dirty="0"/>
          </a:p>
        </p:txBody>
      </p:sp>
      <p:sp>
        <p:nvSpPr>
          <p:cNvPr id="7" name="Text 4"/>
          <p:cNvSpPr txBox="1"/>
          <p:nvPr/>
        </p:nvSpPr>
        <p:spPr>
          <a:xfrm>
            <a:off x="1965960" y="2350008"/>
            <a:ext cx="5212080" cy="548640"/>
          </a:xfrm>
          <a:prstGeom prst="rect">
            <a:avLst/>
          </a:prstGeom>
          <a:noFill/>
          <a:ln/>
        </p:spPr>
        <p:txBody>
          <a:bodyPr wrap="square" lIns="0" tIns="0" rIns="0" bIns="0" rtlCol="0" anchor="t"/>
          <a:lstStyle/>
          <a:p>
            <a:pPr indent="0" marL="0">
              <a:buNone/>
            </a:pPr>
            <a:r>
              <a:rPr lang="en-US" sz="1500" dirty="0">
                <a:solidFill>
                  <a:schemeClr val="tx1"/>
                </a:solidFill>
              </a:rPr>
              <a:t>No live catalogue, no clear stock, no proper order record.</a:t>
            </a:r>
            <a:endParaRPr lang="en-US" sz="1500" dirty="0"/>
          </a:p>
        </p:txBody>
      </p:sp>
      <p:sp>
        <p:nvSpPr>
          <p:cNvPr id="8" name="Problem card 2"/>
          <p:cNvSpPr/>
          <p:nvPr/>
        </p:nvSpPr>
        <p:spPr>
          <a:xfrm>
            <a:off x="640080" y="3200400"/>
            <a:ext cx="6766560" cy="1325880"/>
          </a:xfrm>
          <a:prstGeom prst="roundRect">
            <a:avLst>
              <a:gd name="adj" fmla="val 8276"/>
            </a:avLst>
          </a:prstGeom>
          <a:solidFill>
            <a:schemeClr val="bg2"/>
          </a:solidFill>
          <a:ln/>
        </p:spPr>
      </p:sp>
      <p:sp>
        <p:nvSpPr>
          <p:cNvPr id="9" name="Problem 2 circle"/>
          <p:cNvSpPr/>
          <p:nvPr/>
        </p:nvSpPr>
        <p:spPr>
          <a:xfrm>
            <a:off x="868680" y="3474720"/>
            <a:ext cx="777240" cy="777240"/>
          </a:xfrm>
          <a:prstGeom prst="ellipse">
            <a:avLst/>
          </a:prstGeom>
          <a:solidFill>
            <a:schemeClr val="accent1"/>
          </a:solidFill>
          <a:ln/>
        </p:spPr>
      </p:sp>
      <p:pic>
        <p:nvPicPr>
          <p:cNvPr id="10" name="Problem 2 icon" descr="Problem 2">    </p:cNvPr>
          <p:cNvPicPr>
            <a:picLocks noChangeAspect="1"/>
          </p:cNvPicPr>
          <p:nvPr/>
        </p:nvPicPr>
        <p:blipFill>
          <a:blip r:embed="rId2"/>
          <a:stretch>
            <a:fillRect/>
          </a:stretch>
        </p:blipFill>
        <p:spPr>
          <a:xfrm>
            <a:off x="1078535" y="3684575"/>
            <a:ext cx="357530" cy="357530"/>
          </a:xfrm>
          <a:prstGeom prst="rect">
            <a:avLst/>
          </a:prstGeom>
        </p:spPr>
      </p:pic>
      <p:sp>
        <p:nvSpPr>
          <p:cNvPr id="11" name="Text 7"/>
          <p:cNvSpPr txBox="1"/>
          <p:nvPr/>
        </p:nvSpPr>
        <p:spPr>
          <a:xfrm>
            <a:off x="1965960" y="3401568"/>
            <a:ext cx="5212080" cy="411480"/>
          </a:xfrm>
          <a:prstGeom prst="rect">
            <a:avLst/>
          </a:prstGeom>
          <a:noFill/>
          <a:ln/>
        </p:spPr>
        <p:txBody>
          <a:bodyPr wrap="square" lIns="0" tIns="0" rIns="0" bIns="0" rtlCol="0" anchor="t"/>
          <a:lstStyle/>
          <a:p>
            <a:pPr indent="0" marL="0">
              <a:buNone/>
            </a:pPr>
            <a:r>
              <a:rPr lang="en-US" sz="2000" b="1" dirty="0">
                <a:solidFill>
                  <a:schemeClr val="tx1"/>
                </a:solidFill>
              </a:rPr>
              <a:t>Paying a stranger feels risky</a:t>
            </a:r>
            <a:endParaRPr lang="en-US" sz="2000" dirty="0"/>
          </a:p>
        </p:txBody>
      </p:sp>
      <p:sp>
        <p:nvSpPr>
          <p:cNvPr id="12" name="Text 8"/>
          <p:cNvSpPr txBox="1"/>
          <p:nvPr/>
        </p:nvSpPr>
        <p:spPr>
          <a:xfrm>
            <a:off x="1965960" y="3858768"/>
            <a:ext cx="5212080" cy="548640"/>
          </a:xfrm>
          <a:prstGeom prst="rect">
            <a:avLst/>
          </a:prstGeom>
          <a:noFill/>
          <a:ln/>
        </p:spPr>
        <p:txBody>
          <a:bodyPr wrap="square" lIns="0" tIns="0" rIns="0" bIns="0" rtlCol="0" anchor="t"/>
          <a:lstStyle/>
          <a:p>
            <a:pPr indent="0" marL="0">
              <a:buNone/>
            </a:pPr>
            <a:r>
              <a:rPr lang="en-US" sz="1500" dirty="0">
                <a:solidFill>
                  <a:schemeClr val="tx1"/>
                </a:solidFill>
              </a:rPr>
              <a:t>Students need safe card or EFT options and proof of purchase.</a:t>
            </a:r>
            <a:endParaRPr lang="en-US" sz="1500" dirty="0"/>
          </a:p>
        </p:txBody>
      </p:sp>
      <p:sp>
        <p:nvSpPr>
          <p:cNvPr id="13" name="Problem card 3"/>
          <p:cNvSpPr/>
          <p:nvPr/>
        </p:nvSpPr>
        <p:spPr>
          <a:xfrm>
            <a:off x="640080" y="4709160"/>
            <a:ext cx="6766560" cy="1325880"/>
          </a:xfrm>
          <a:prstGeom prst="roundRect">
            <a:avLst>
              <a:gd name="adj" fmla="val 8276"/>
            </a:avLst>
          </a:prstGeom>
          <a:solidFill>
            <a:schemeClr val="bg2"/>
          </a:solidFill>
          <a:ln/>
        </p:spPr>
      </p:sp>
      <p:sp>
        <p:nvSpPr>
          <p:cNvPr id="14" name="Problem 3 circle"/>
          <p:cNvSpPr/>
          <p:nvPr/>
        </p:nvSpPr>
        <p:spPr>
          <a:xfrm>
            <a:off x="868680" y="4983480"/>
            <a:ext cx="777240" cy="777240"/>
          </a:xfrm>
          <a:prstGeom prst="ellipse">
            <a:avLst/>
          </a:prstGeom>
          <a:solidFill>
            <a:schemeClr val="accent1"/>
          </a:solidFill>
          <a:ln/>
        </p:spPr>
      </p:sp>
      <p:pic>
        <p:nvPicPr>
          <p:cNvPr id="15" name="Problem 3 icon" descr="Problem 3">    </p:cNvPr>
          <p:cNvPicPr>
            <a:picLocks noChangeAspect="1"/>
          </p:cNvPicPr>
          <p:nvPr/>
        </p:nvPicPr>
        <p:blipFill>
          <a:blip r:embed="rId3"/>
          <a:stretch>
            <a:fillRect/>
          </a:stretch>
        </p:blipFill>
        <p:spPr>
          <a:xfrm>
            <a:off x="1078535" y="5193335"/>
            <a:ext cx="357530" cy="357530"/>
          </a:xfrm>
          <a:prstGeom prst="rect">
            <a:avLst/>
          </a:prstGeom>
        </p:spPr>
      </p:pic>
      <p:sp>
        <p:nvSpPr>
          <p:cNvPr id="16" name="Text 11"/>
          <p:cNvSpPr txBox="1"/>
          <p:nvPr/>
        </p:nvSpPr>
        <p:spPr>
          <a:xfrm>
            <a:off x="1965960" y="4910328"/>
            <a:ext cx="5212080" cy="411480"/>
          </a:xfrm>
          <a:prstGeom prst="rect">
            <a:avLst/>
          </a:prstGeom>
          <a:noFill/>
          <a:ln/>
        </p:spPr>
        <p:txBody>
          <a:bodyPr wrap="square" lIns="0" tIns="0" rIns="0" bIns="0" rtlCol="0" anchor="t"/>
          <a:lstStyle/>
          <a:p>
            <a:pPr indent="0" marL="0">
              <a:buNone/>
            </a:pPr>
            <a:r>
              <a:rPr lang="en-US" sz="2000" b="1" dirty="0">
                <a:solidFill>
                  <a:schemeClr val="tx1"/>
                </a:solidFill>
              </a:rPr>
              <a:t>Getting it is a hassle</a:t>
            </a:r>
            <a:endParaRPr lang="en-US" sz="2000" dirty="0"/>
          </a:p>
        </p:txBody>
      </p:sp>
      <p:sp>
        <p:nvSpPr>
          <p:cNvPr id="17" name="Text 12"/>
          <p:cNvSpPr txBox="1"/>
          <p:nvPr/>
        </p:nvSpPr>
        <p:spPr>
          <a:xfrm>
            <a:off x="1965960" y="5367528"/>
            <a:ext cx="5212080" cy="548640"/>
          </a:xfrm>
          <a:prstGeom prst="rect">
            <a:avLst/>
          </a:prstGeom>
          <a:noFill/>
          <a:ln/>
        </p:spPr>
        <p:txBody>
          <a:bodyPr wrap="square" lIns="0" tIns="0" rIns="0" bIns="0" rtlCol="0" anchor="t"/>
          <a:lstStyle/>
          <a:p>
            <a:pPr indent="0" marL="0">
              <a:buNone/>
            </a:pPr>
            <a:r>
              <a:rPr lang="en-US" sz="1500" dirty="0">
                <a:solidFill>
                  <a:schemeClr val="tx1"/>
                </a:solidFill>
              </a:rPr>
              <a:t>Arranging delivery to residence or collecting across campus takes effort.</a:t>
            </a:r>
            <a:endParaRPr lang="en-US" sz="1500" dirty="0"/>
          </a:p>
        </p:txBody>
      </p:sp>
      <p:sp>
        <p:nvSpPr>
          <p:cNvPr id="18" name="Who and why card"/>
          <p:cNvSpPr/>
          <p:nvPr/>
        </p:nvSpPr>
        <p:spPr>
          <a:xfrm>
            <a:off x="7680960" y="1691640"/>
            <a:ext cx="3867912" cy="4343400"/>
          </a:xfrm>
          <a:prstGeom prst="roundRect">
            <a:avLst>
              <a:gd name="adj" fmla="val 2837"/>
            </a:avLst>
          </a:prstGeom>
          <a:solidFill>
            <a:schemeClr val="tx1"/>
          </a:solidFill>
          <a:ln/>
        </p:spPr>
      </p:sp>
      <p:sp>
        <p:nvSpPr>
          <p:cNvPr id="19" name="Text 14"/>
          <p:cNvSpPr txBox="1"/>
          <p:nvPr/>
        </p:nvSpPr>
        <p:spPr>
          <a:xfrm>
            <a:off x="8001000" y="1965960"/>
            <a:ext cx="3291840" cy="274320"/>
          </a:xfrm>
          <a:prstGeom prst="rect">
            <a:avLst/>
          </a:prstGeom>
          <a:noFill/>
          <a:ln/>
        </p:spPr>
        <p:txBody>
          <a:bodyPr wrap="square" lIns="0" tIns="0" rIns="0" bIns="0" rtlCol="0" anchor="t"/>
          <a:lstStyle/>
          <a:p>
            <a:pPr indent="0" marL="0">
              <a:buNone/>
            </a:pPr>
            <a:r>
              <a:rPr lang="en-US" sz="1400" b="1" spc="200" kern="0" dirty="0">
                <a:solidFill>
                  <a:schemeClr val="accent1"/>
                </a:solidFill>
              </a:rPr>
              <a:t>WHO FEELS IT</a:t>
            </a:r>
            <a:endParaRPr lang="en-US" sz="1400" dirty="0"/>
          </a:p>
        </p:txBody>
      </p:sp>
      <p:sp>
        <p:nvSpPr>
          <p:cNvPr id="20" name="Text 15"/>
          <p:cNvSpPr txBox="1"/>
          <p:nvPr/>
        </p:nvSpPr>
        <p:spPr>
          <a:xfrm>
            <a:off x="8001000" y="2286000"/>
            <a:ext cx="3291840" cy="502920"/>
          </a:xfrm>
          <a:prstGeom prst="rect">
            <a:avLst/>
          </a:prstGeom>
          <a:noFill/>
          <a:ln/>
        </p:spPr>
        <p:txBody>
          <a:bodyPr wrap="square" lIns="0" tIns="0" rIns="0" bIns="0" rtlCol="0" anchor="t"/>
          <a:lstStyle/>
          <a:p>
            <a:pPr indent="0" marL="0">
              <a:buNone/>
            </a:pPr>
            <a:r>
              <a:rPr lang="en-US" sz="2800" b="1" dirty="0">
                <a:solidFill>
                  <a:schemeClr val="bg1"/>
                </a:solidFill>
              </a:rPr>
              <a:t>ICT students</a:t>
            </a:r>
            <a:endParaRPr lang="en-US" sz="2800" dirty="0"/>
          </a:p>
        </p:txBody>
      </p:sp>
      <p:sp>
        <p:nvSpPr>
          <p:cNvPr id="21" name="Text 16"/>
          <p:cNvSpPr txBox="1"/>
          <p:nvPr/>
        </p:nvSpPr>
        <p:spPr>
          <a:xfrm>
            <a:off x="8001000" y="2834640"/>
            <a:ext cx="3291840" cy="731520"/>
          </a:xfrm>
          <a:prstGeom prst="rect">
            <a:avLst/>
          </a:prstGeom>
          <a:noFill/>
          <a:ln/>
        </p:spPr>
        <p:txBody>
          <a:bodyPr wrap="square" lIns="0" tIns="0" rIns="0" bIns="0" rtlCol="0" anchor="t"/>
          <a:lstStyle/>
          <a:p>
            <a:pPr indent="0" marL="0">
              <a:buNone/>
            </a:pPr>
            <a:r>
              <a:rPr lang="en-US" sz="1500" dirty="0">
                <a:solidFill>
                  <a:schemeClr val="bg1"/>
                </a:solidFill>
              </a:rPr>
              <a:t>Buying for themselves, their class or their society.</a:t>
            </a:r>
            <a:endParaRPr lang="en-US" sz="1500" dirty="0"/>
          </a:p>
        </p:txBody>
      </p:sp>
      <p:sp>
        <p:nvSpPr>
          <p:cNvPr id="22" name="Text 17"/>
          <p:cNvSpPr txBox="1"/>
          <p:nvPr/>
        </p:nvSpPr>
        <p:spPr>
          <a:xfrm>
            <a:off x="8001000" y="3794760"/>
            <a:ext cx="3291840" cy="274320"/>
          </a:xfrm>
          <a:prstGeom prst="rect">
            <a:avLst/>
          </a:prstGeom>
          <a:noFill/>
          <a:ln/>
        </p:spPr>
        <p:txBody>
          <a:bodyPr wrap="square" lIns="0" tIns="0" rIns="0" bIns="0" rtlCol="0" anchor="t"/>
          <a:lstStyle/>
          <a:p>
            <a:pPr indent="0" marL="0">
              <a:buNone/>
            </a:pPr>
            <a:r>
              <a:rPr lang="en-US" sz="1400" b="1" spc="200" kern="0" dirty="0">
                <a:solidFill>
                  <a:schemeClr val="accent1"/>
                </a:solidFill>
              </a:rPr>
              <a:t>WHY IT MATTERS</a:t>
            </a:r>
            <a:endParaRPr lang="en-US" sz="1400" dirty="0"/>
          </a:p>
        </p:txBody>
      </p:sp>
      <p:sp>
        <p:nvSpPr>
          <p:cNvPr id="23" name="Text 18"/>
          <p:cNvSpPr txBox="1"/>
          <p:nvPr/>
        </p:nvSpPr>
        <p:spPr>
          <a:xfrm>
            <a:off x="8001000" y="4160520"/>
            <a:ext cx="3291840" cy="1554480"/>
          </a:xfrm>
          <a:prstGeom prst="rect">
            <a:avLst/>
          </a:prstGeom>
          <a:noFill/>
          <a:ln/>
        </p:spPr>
        <p:txBody>
          <a:bodyPr wrap="square" lIns="0" tIns="0" rIns="0" bIns="0" rtlCol="0" anchor="t"/>
          <a:lstStyle/>
          <a:p>
            <a:pPr indent="0" marL="0">
              <a:buNone/>
            </a:pPr>
            <a:r>
              <a:rPr lang="en-US" sz="1500" dirty="0">
                <a:solidFill>
                  <a:schemeClr val="bg1"/>
                </a:solidFill>
              </a:rPr>
              <a:t>Belonging drives campus merch demand, but students are cost and trust sensitive. If buying is clumsy, they simply don't buy.</a:t>
            </a:r>
            <a:endParaRPr lang="en-US" sz="15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1005840"/>
          </a:xfrm>
          <a:prstGeom prst="rect">
            <a:avLst/>
          </a:prstGeom>
          <a:noFill/>
          <a:ln/>
        </p:spPr>
        <p:txBody>
          <a:bodyPr wrap="square" lIns="0" tIns="0" rIns="0" bIns="0" rtlCol="0" anchor="ctr"/>
          <a:lstStyle/>
          <a:p>
            <a:pPr indent="0" marL="0">
              <a:buNone/>
            </a:pPr>
            <a:r>
              <a:rPr lang="en-US" sz="3600" b="1" dirty="0">
                <a:solidFill>
                  <a:schemeClr val="tx1"/>
                </a:solidFill>
              </a:rPr>
              <a:t>One simple shop for ICT identity</a:t>
            </a:r>
            <a:endParaRPr lang="en-US" sz="3600" dirty="0"/>
          </a:p>
        </p:txBody>
      </p:sp>
      <p:sp>
        <p:nvSpPr>
          <p:cNvPr id="3" name="Today card"/>
          <p:cNvSpPr/>
          <p:nvPr/>
        </p:nvSpPr>
        <p:spPr>
          <a:xfrm>
            <a:off x="640080" y="1691640"/>
            <a:ext cx="4572000" cy="3749040"/>
          </a:xfrm>
          <a:prstGeom prst="roundRect">
            <a:avLst>
              <a:gd name="adj" fmla="val 2927"/>
            </a:avLst>
          </a:prstGeom>
          <a:solidFill>
            <a:schemeClr val="bg2"/>
          </a:solidFill>
          <a:ln/>
        </p:spPr>
      </p:sp>
      <p:sp>
        <p:nvSpPr>
          <p:cNvPr id="4" name="Text 2"/>
          <p:cNvSpPr txBox="1"/>
          <p:nvPr/>
        </p:nvSpPr>
        <p:spPr>
          <a:xfrm>
            <a:off x="914400" y="1920240"/>
            <a:ext cx="4023360" cy="274320"/>
          </a:xfrm>
          <a:prstGeom prst="rect">
            <a:avLst/>
          </a:prstGeom>
          <a:noFill/>
          <a:ln/>
        </p:spPr>
        <p:txBody>
          <a:bodyPr wrap="square" lIns="0" tIns="0" rIns="0" bIns="0" rtlCol="0" anchor="t"/>
          <a:lstStyle/>
          <a:p>
            <a:pPr indent="0" marL="0">
              <a:buNone/>
            </a:pPr>
            <a:r>
              <a:rPr lang="en-US" sz="1400" b="1" spc="100" kern="0" dirty="0">
                <a:solidFill>
                  <a:srgbClr val="6B7390"/>
                </a:solidFill>
              </a:rPr>
              <a:t>TODAY: CHAT-BASED ORDERING</a:t>
            </a:r>
            <a:endParaRPr lang="en-US" sz="1400" dirty="0"/>
          </a:p>
        </p:txBody>
      </p:sp>
      <p:sp>
        <p:nvSpPr>
          <p:cNvPr id="5" name="Today 1 circle"/>
          <p:cNvSpPr/>
          <p:nvPr/>
        </p:nvSpPr>
        <p:spPr>
          <a:xfrm>
            <a:off x="914400" y="2468880"/>
            <a:ext cx="502920" cy="502920"/>
          </a:xfrm>
          <a:prstGeom prst="ellipse">
            <a:avLst/>
          </a:prstGeom>
          <a:solidFill>
            <a:srgbClr val="8A90A8"/>
          </a:solidFill>
          <a:ln/>
        </p:spPr>
      </p:sp>
      <p:pic>
        <p:nvPicPr>
          <p:cNvPr id="6" name="Today 1 icon" descr="Today 1">    </p:cNvPr>
          <p:cNvPicPr>
            <a:picLocks noChangeAspect="1"/>
          </p:cNvPicPr>
          <p:nvPr/>
        </p:nvPicPr>
        <p:blipFill>
          <a:blip r:embed="rId1"/>
          <a:stretch>
            <a:fillRect/>
          </a:stretch>
        </p:blipFill>
        <p:spPr>
          <a:xfrm>
            <a:off x="1050188" y="2604668"/>
            <a:ext cx="231343" cy="231343"/>
          </a:xfrm>
          <a:prstGeom prst="rect">
            <a:avLst/>
          </a:prstGeom>
        </p:spPr>
      </p:pic>
      <p:sp>
        <p:nvSpPr>
          <p:cNvPr id="7" name="Text 4"/>
          <p:cNvSpPr txBox="1"/>
          <p:nvPr/>
        </p:nvSpPr>
        <p:spPr>
          <a:xfrm>
            <a:off x="1600200" y="2487168"/>
            <a:ext cx="3383280" cy="731520"/>
          </a:xfrm>
          <a:prstGeom prst="rect">
            <a:avLst/>
          </a:prstGeom>
          <a:noFill/>
          <a:ln/>
        </p:spPr>
        <p:txBody>
          <a:bodyPr wrap="square" lIns="0" tIns="0" rIns="0" bIns="0" rtlCol="0" anchor="ctr"/>
          <a:lstStyle/>
          <a:p>
            <a:pPr indent="0" marL="0">
              <a:buNone/>
            </a:pPr>
            <a:r>
              <a:rPr lang="en-US" sz="1600" dirty="0">
                <a:solidFill>
                  <a:schemeClr val="tx1"/>
                </a:solidFill>
              </a:rPr>
              <a:t>Orders buried in DMs and group chats</a:t>
            </a:r>
            <a:endParaRPr lang="en-US" sz="1600" dirty="0"/>
          </a:p>
        </p:txBody>
      </p:sp>
      <p:sp>
        <p:nvSpPr>
          <p:cNvPr id="8" name="Today 2 circle"/>
          <p:cNvSpPr/>
          <p:nvPr/>
        </p:nvSpPr>
        <p:spPr>
          <a:xfrm>
            <a:off x="914400" y="3429000"/>
            <a:ext cx="502920" cy="502920"/>
          </a:xfrm>
          <a:prstGeom prst="ellipse">
            <a:avLst/>
          </a:prstGeom>
          <a:solidFill>
            <a:srgbClr val="8A90A8"/>
          </a:solidFill>
          <a:ln/>
        </p:spPr>
      </p:sp>
      <p:pic>
        <p:nvPicPr>
          <p:cNvPr id="9" name="Today 2 icon" descr="Today 2">    </p:cNvPr>
          <p:cNvPicPr>
            <a:picLocks noChangeAspect="1"/>
          </p:cNvPicPr>
          <p:nvPr/>
        </p:nvPicPr>
        <p:blipFill>
          <a:blip r:embed="rId2"/>
          <a:stretch>
            <a:fillRect/>
          </a:stretch>
        </p:blipFill>
        <p:spPr>
          <a:xfrm>
            <a:off x="1050188" y="3564788"/>
            <a:ext cx="231343" cy="231343"/>
          </a:xfrm>
          <a:prstGeom prst="rect">
            <a:avLst/>
          </a:prstGeom>
        </p:spPr>
      </p:pic>
      <p:sp>
        <p:nvSpPr>
          <p:cNvPr id="10" name="Text 6"/>
          <p:cNvSpPr txBox="1"/>
          <p:nvPr/>
        </p:nvSpPr>
        <p:spPr>
          <a:xfrm>
            <a:off x="1600200" y="3447288"/>
            <a:ext cx="3383280" cy="731520"/>
          </a:xfrm>
          <a:prstGeom prst="rect">
            <a:avLst/>
          </a:prstGeom>
          <a:noFill/>
          <a:ln/>
        </p:spPr>
        <p:txBody>
          <a:bodyPr wrap="square" lIns="0" tIns="0" rIns="0" bIns="0" rtlCol="0" anchor="ctr"/>
          <a:lstStyle/>
          <a:p>
            <a:pPr indent="0" marL="0">
              <a:buNone/>
            </a:pPr>
            <a:r>
              <a:rPr lang="en-US" sz="1600" dirty="0">
                <a:solidFill>
                  <a:schemeClr val="tx1"/>
                </a:solidFill>
              </a:rPr>
              <a:t>Unclear stock, sizes and order status</a:t>
            </a:r>
            <a:endParaRPr lang="en-US" sz="1600" dirty="0"/>
          </a:p>
        </p:txBody>
      </p:sp>
      <p:sp>
        <p:nvSpPr>
          <p:cNvPr id="11" name="Today 3 circle"/>
          <p:cNvSpPr/>
          <p:nvPr/>
        </p:nvSpPr>
        <p:spPr>
          <a:xfrm>
            <a:off x="914400" y="4389120"/>
            <a:ext cx="502920" cy="502920"/>
          </a:xfrm>
          <a:prstGeom prst="ellipse">
            <a:avLst/>
          </a:prstGeom>
          <a:solidFill>
            <a:srgbClr val="8A90A8"/>
          </a:solidFill>
          <a:ln/>
        </p:spPr>
      </p:sp>
      <p:pic>
        <p:nvPicPr>
          <p:cNvPr id="12" name="Today 3 icon" descr="Today 3">    </p:cNvPr>
          <p:cNvPicPr>
            <a:picLocks noChangeAspect="1"/>
          </p:cNvPicPr>
          <p:nvPr/>
        </p:nvPicPr>
        <p:blipFill>
          <a:blip r:embed="rId3"/>
          <a:stretch>
            <a:fillRect/>
          </a:stretch>
        </p:blipFill>
        <p:spPr>
          <a:xfrm>
            <a:off x="1050188" y="4524908"/>
            <a:ext cx="231343" cy="231343"/>
          </a:xfrm>
          <a:prstGeom prst="rect">
            <a:avLst/>
          </a:prstGeom>
        </p:spPr>
      </p:pic>
      <p:sp>
        <p:nvSpPr>
          <p:cNvPr id="13" name="Text 8"/>
          <p:cNvSpPr txBox="1"/>
          <p:nvPr/>
        </p:nvSpPr>
        <p:spPr>
          <a:xfrm>
            <a:off x="1600200" y="4407408"/>
            <a:ext cx="3383280" cy="731520"/>
          </a:xfrm>
          <a:prstGeom prst="rect">
            <a:avLst/>
          </a:prstGeom>
          <a:noFill/>
          <a:ln/>
        </p:spPr>
        <p:txBody>
          <a:bodyPr wrap="square" lIns="0" tIns="0" rIns="0" bIns="0" rtlCol="0" anchor="ctr"/>
          <a:lstStyle/>
          <a:p>
            <a:pPr indent="0" marL="0">
              <a:buNone/>
            </a:pPr>
            <a:r>
              <a:rPr lang="en-US" sz="1600" dirty="0">
                <a:solidFill>
                  <a:schemeClr val="tx1"/>
                </a:solidFill>
              </a:rPr>
              <a:t>Paying and collecting on your own</a:t>
            </a:r>
            <a:endParaRPr lang="en-US" sz="1600" dirty="0"/>
          </a:p>
        </p:txBody>
      </p:sp>
      <p:sp>
        <p:nvSpPr>
          <p:cNvPr id="14" name="Arrow circle"/>
          <p:cNvSpPr/>
          <p:nvPr/>
        </p:nvSpPr>
        <p:spPr>
          <a:xfrm>
            <a:off x="5440680" y="3246120"/>
            <a:ext cx="731520" cy="731520"/>
          </a:xfrm>
          <a:prstGeom prst="ellipse">
            <a:avLst/>
          </a:prstGeom>
          <a:solidFill>
            <a:schemeClr val="accent1"/>
          </a:solidFill>
          <a:ln/>
        </p:spPr>
      </p:sp>
      <p:pic>
        <p:nvPicPr>
          <p:cNvPr id="15" name="Arrow icon" descr="Arrow">    </p:cNvPr>
          <p:cNvPicPr>
            <a:picLocks noChangeAspect="1"/>
          </p:cNvPicPr>
          <p:nvPr/>
        </p:nvPicPr>
        <p:blipFill>
          <a:blip r:embed="rId4"/>
          <a:stretch>
            <a:fillRect/>
          </a:stretch>
        </p:blipFill>
        <p:spPr>
          <a:xfrm>
            <a:off x="5638190" y="3443630"/>
            <a:ext cx="336499" cy="336499"/>
          </a:xfrm>
          <a:prstGeom prst="rect">
            <a:avLst/>
          </a:prstGeom>
        </p:spPr>
      </p:pic>
      <p:sp>
        <p:nvSpPr>
          <p:cNvPr id="16" name="ItemHive card"/>
          <p:cNvSpPr/>
          <p:nvPr/>
        </p:nvSpPr>
        <p:spPr>
          <a:xfrm>
            <a:off x="6400800" y="1691640"/>
            <a:ext cx="5148072" cy="3749040"/>
          </a:xfrm>
          <a:prstGeom prst="roundRect">
            <a:avLst>
              <a:gd name="adj" fmla="val 2927"/>
            </a:avLst>
          </a:prstGeom>
          <a:solidFill>
            <a:schemeClr val="tx1"/>
          </a:solidFill>
          <a:ln/>
        </p:spPr>
      </p:sp>
      <p:sp>
        <p:nvSpPr>
          <p:cNvPr id="17" name="Text 11"/>
          <p:cNvSpPr txBox="1"/>
          <p:nvPr/>
        </p:nvSpPr>
        <p:spPr>
          <a:xfrm>
            <a:off x="6720840" y="1920240"/>
            <a:ext cx="4480560" cy="274320"/>
          </a:xfrm>
          <a:prstGeom prst="rect">
            <a:avLst/>
          </a:prstGeom>
          <a:noFill/>
          <a:ln/>
        </p:spPr>
        <p:txBody>
          <a:bodyPr wrap="square" lIns="0" tIns="0" rIns="0" bIns="0" rtlCol="0" anchor="t"/>
          <a:lstStyle/>
          <a:p>
            <a:pPr indent="0" marL="0">
              <a:buNone/>
            </a:pPr>
            <a:r>
              <a:rPr lang="en-US" sz="1400" b="1" spc="200" kern="0" dirty="0">
                <a:solidFill>
                  <a:schemeClr val="accent1"/>
                </a:solidFill>
              </a:rPr>
              <a:t>WITH ITEMHIVE</a:t>
            </a:r>
            <a:endParaRPr lang="en-US" sz="1400" dirty="0"/>
          </a:p>
        </p:txBody>
      </p:sp>
      <p:sp>
        <p:nvSpPr>
          <p:cNvPr id="18" name="Benefit 1 circle"/>
          <p:cNvSpPr/>
          <p:nvPr/>
        </p:nvSpPr>
        <p:spPr>
          <a:xfrm>
            <a:off x="6720840" y="2423160"/>
            <a:ext cx="457200" cy="457200"/>
          </a:xfrm>
          <a:prstGeom prst="ellipse">
            <a:avLst/>
          </a:prstGeom>
          <a:solidFill>
            <a:schemeClr val="accent1"/>
          </a:solidFill>
          <a:ln/>
        </p:spPr>
      </p:sp>
      <p:pic>
        <p:nvPicPr>
          <p:cNvPr id="19" name="Benefit 1 icon" descr="Benefit 1">    </p:cNvPr>
          <p:cNvPicPr>
            <a:picLocks noChangeAspect="1"/>
          </p:cNvPicPr>
          <p:nvPr/>
        </p:nvPicPr>
        <p:blipFill>
          <a:blip r:embed="rId5"/>
          <a:stretch>
            <a:fillRect/>
          </a:stretch>
        </p:blipFill>
        <p:spPr>
          <a:xfrm>
            <a:off x="6844284" y="2546604"/>
            <a:ext cx="210312" cy="210312"/>
          </a:xfrm>
          <a:prstGeom prst="rect">
            <a:avLst/>
          </a:prstGeom>
        </p:spPr>
      </p:pic>
      <p:sp>
        <p:nvSpPr>
          <p:cNvPr id="20" name="Text 13"/>
          <p:cNvSpPr txBox="1"/>
          <p:nvPr/>
        </p:nvSpPr>
        <p:spPr>
          <a:xfrm>
            <a:off x="7406640" y="2423160"/>
            <a:ext cx="3931920" cy="457200"/>
          </a:xfrm>
          <a:prstGeom prst="rect">
            <a:avLst/>
          </a:prstGeom>
          <a:noFill/>
          <a:ln/>
        </p:spPr>
        <p:txBody>
          <a:bodyPr wrap="square" lIns="0" tIns="0" rIns="0" bIns="0" rtlCol="0" anchor="ctr"/>
          <a:lstStyle/>
          <a:p>
            <a:pPr indent="0" marL="0">
              <a:buNone/>
            </a:pPr>
            <a:r>
              <a:rPr lang="en-US" sz="1600" dirty="0">
                <a:solidFill>
                  <a:schemeClr val="bg1"/>
                </a:solidFill>
              </a:rPr>
              <a:t>Live catalogue on one simple web app</a:t>
            </a:r>
            <a:endParaRPr lang="en-US" sz="1600" dirty="0"/>
          </a:p>
        </p:txBody>
      </p:sp>
      <p:sp>
        <p:nvSpPr>
          <p:cNvPr id="21" name="Benefit 2 circle"/>
          <p:cNvSpPr/>
          <p:nvPr/>
        </p:nvSpPr>
        <p:spPr>
          <a:xfrm>
            <a:off x="6720840" y="3154680"/>
            <a:ext cx="457200" cy="457200"/>
          </a:xfrm>
          <a:prstGeom prst="ellipse">
            <a:avLst/>
          </a:prstGeom>
          <a:solidFill>
            <a:schemeClr val="accent1"/>
          </a:solidFill>
          <a:ln/>
        </p:spPr>
      </p:sp>
      <p:pic>
        <p:nvPicPr>
          <p:cNvPr id="22" name="Benefit 2 icon" descr="Benefit 2">    </p:cNvPr>
          <p:cNvPicPr>
            <a:picLocks noChangeAspect="1"/>
          </p:cNvPicPr>
          <p:nvPr/>
        </p:nvPicPr>
        <p:blipFill>
          <a:blip r:embed="rId6"/>
          <a:stretch>
            <a:fillRect/>
          </a:stretch>
        </p:blipFill>
        <p:spPr>
          <a:xfrm>
            <a:off x="6844284" y="3278124"/>
            <a:ext cx="210312" cy="210312"/>
          </a:xfrm>
          <a:prstGeom prst="rect">
            <a:avLst/>
          </a:prstGeom>
        </p:spPr>
      </p:pic>
      <p:sp>
        <p:nvSpPr>
          <p:cNvPr id="23" name="Text 15"/>
          <p:cNvSpPr txBox="1"/>
          <p:nvPr/>
        </p:nvSpPr>
        <p:spPr>
          <a:xfrm>
            <a:off x="7406640" y="3154680"/>
            <a:ext cx="3931920" cy="457200"/>
          </a:xfrm>
          <a:prstGeom prst="rect">
            <a:avLst/>
          </a:prstGeom>
          <a:noFill/>
          <a:ln/>
        </p:spPr>
        <p:txBody>
          <a:bodyPr wrap="square" lIns="0" tIns="0" rIns="0" bIns="0" rtlCol="0" anchor="ctr"/>
          <a:lstStyle/>
          <a:p>
            <a:pPr indent="0" marL="0">
              <a:buNone/>
            </a:pPr>
            <a:r>
              <a:rPr lang="en-US" sz="1600" dirty="0">
                <a:solidFill>
                  <a:schemeClr val="bg1"/>
                </a:solidFill>
              </a:rPr>
              <a:t>Card or EFT checkout + email confirmation</a:t>
            </a:r>
            <a:endParaRPr lang="en-US" sz="1600" dirty="0"/>
          </a:p>
        </p:txBody>
      </p:sp>
      <p:sp>
        <p:nvSpPr>
          <p:cNvPr id="24" name="Benefit 3 circle"/>
          <p:cNvSpPr/>
          <p:nvPr/>
        </p:nvSpPr>
        <p:spPr>
          <a:xfrm>
            <a:off x="6720840" y="3886200"/>
            <a:ext cx="457200" cy="457200"/>
          </a:xfrm>
          <a:prstGeom prst="ellipse">
            <a:avLst/>
          </a:prstGeom>
          <a:solidFill>
            <a:schemeClr val="accent1"/>
          </a:solidFill>
          <a:ln/>
        </p:spPr>
      </p:sp>
      <p:pic>
        <p:nvPicPr>
          <p:cNvPr id="25" name="Benefit 3 icon" descr="Benefit 3">    </p:cNvPr>
          <p:cNvPicPr>
            <a:picLocks noChangeAspect="1"/>
          </p:cNvPicPr>
          <p:nvPr/>
        </p:nvPicPr>
        <p:blipFill>
          <a:blip r:embed="rId7"/>
          <a:stretch>
            <a:fillRect/>
          </a:stretch>
        </p:blipFill>
        <p:spPr>
          <a:xfrm>
            <a:off x="6844284" y="4009644"/>
            <a:ext cx="210312" cy="210312"/>
          </a:xfrm>
          <a:prstGeom prst="rect">
            <a:avLst/>
          </a:prstGeom>
        </p:spPr>
      </p:pic>
      <p:sp>
        <p:nvSpPr>
          <p:cNvPr id="26" name="Text 17"/>
          <p:cNvSpPr txBox="1"/>
          <p:nvPr/>
        </p:nvSpPr>
        <p:spPr>
          <a:xfrm>
            <a:off x="7406640" y="3886200"/>
            <a:ext cx="3931920" cy="457200"/>
          </a:xfrm>
          <a:prstGeom prst="rect">
            <a:avLst/>
          </a:prstGeom>
          <a:noFill/>
          <a:ln/>
        </p:spPr>
        <p:txBody>
          <a:bodyPr wrap="square" lIns="0" tIns="0" rIns="0" bIns="0" rtlCol="0" anchor="ctr"/>
          <a:lstStyle/>
          <a:p>
            <a:pPr indent="0" marL="0">
              <a:buNone/>
            </a:pPr>
            <a:r>
              <a:rPr lang="en-US" sz="1600" dirty="0">
                <a:solidFill>
                  <a:schemeClr val="bg1"/>
                </a:solidFill>
              </a:rPr>
              <a:t>Free residence delivery or PAXI store-to-store</a:t>
            </a:r>
            <a:endParaRPr lang="en-US" sz="1600" dirty="0"/>
          </a:p>
        </p:txBody>
      </p:sp>
      <p:sp>
        <p:nvSpPr>
          <p:cNvPr id="27" name="Benefit 4 circle"/>
          <p:cNvSpPr/>
          <p:nvPr/>
        </p:nvSpPr>
        <p:spPr>
          <a:xfrm>
            <a:off x="6720840" y="4617720"/>
            <a:ext cx="457200" cy="457200"/>
          </a:xfrm>
          <a:prstGeom prst="ellipse">
            <a:avLst/>
          </a:prstGeom>
          <a:solidFill>
            <a:schemeClr val="accent1"/>
          </a:solidFill>
          <a:ln/>
        </p:spPr>
      </p:sp>
      <p:pic>
        <p:nvPicPr>
          <p:cNvPr id="28" name="Benefit 4 icon" descr="Benefit 4">    </p:cNvPr>
          <p:cNvPicPr>
            <a:picLocks noChangeAspect="1"/>
          </p:cNvPicPr>
          <p:nvPr/>
        </p:nvPicPr>
        <p:blipFill>
          <a:blip r:embed="rId8"/>
          <a:stretch>
            <a:fillRect/>
          </a:stretch>
        </p:blipFill>
        <p:spPr>
          <a:xfrm>
            <a:off x="6844284" y="4741164"/>
            <a:ext cx="210312" cy="210312"/>
          </a:xfrm>
          <a:prstGeom prst="rect">
            <a:avLst/>
          </a:prstGeom>
        </p:spPr>
      </p:pic>
      <p:sp>
        <p:nvSpPr>
          <p:cNvPr id="29" name="Text 19"/>
          <p:cNvSpPr txBox="1"/>
          <p:nvPr/>
        </p:nvSpPr>
        <p:spPr>
          <a:xfrm>
            <a:off x="7406640" y="4617720"/>
            <a:ext cx="3931920" cy="457200"/>
          </a:xfrm>
          <a:prstGeom prst="rect">
            <a:avLst/>
          </a:prstGeom>
          <a:noFill/>
          <a:ln/>
        </p:spPr>
        <p:txBody>
          <a:bodyPr wrap="square" lIns="0" tIns="0" rIns="0" bIns="0" rtlCol="0" anchor="ctr"/>
          <a:lstStyle/>
          <a:p>
            <a:pPr indent="0" marL="0">
              <a:buNone/>
            </a:pPr>
            <a:r>
              <a:rPr lang="en-US" sz="1600" dirty="0">
                <a:solidFill>
                  <a:schemeClr val="bg1"/>
                </a:solidFill>
              </a:rPr>
              <a:t>20% student discount</a:t>
            </a:r>
            <a:endParaRPr lang="en-US" sz="1600" dirty="0"/>
          </a:p>
        </p:txBody>
      </p:sp>
      <p:sp>
        <p:nvSpPr>
          <p:cNvPr id="30" name="Value banner"/>
          <p:cNvSpPr/>
          <p:nvPr/>
        </p:nvSpPr>
        <p:spPr>
          <a:xfrm>
            <a:off x="640080" y="5623560"/>
            <a:ext cx="10908792" cy="594360"/>
          </a:xfrm>
          <a:prstGeom prst="roundRect">
            <a:avLst>
              <a:gd name="adj" fmla="val 18462"/>
            </a:avLst>
          </a:prstGeom>
          <a:solidFill>
            <a:schemeClr val="accent1"/>
          </a:solidFill>
          <a:ln/>
        </p:spPr>
      </p:sp>
      <p:sp>
        <p:nvSpPr>
          <p:cNvPr id="31" name="Text 21"/>
          <p:cNvSpPr txBox="1"/>
          <p:nvPr/>
        </p:nvSpPr>
        <p:spPr>
          <a:xfrm>
            <a:off x="822960" y="5623560"/>
            <a:ext cx="10515600" cy="594360"/>
          </a:xfrm>
          <a:prstGeom prst="rect">
            <a:avLst/>
          </a:prstGeom>
          <a:noFill/>
          <a:ln/>
        </p:spPr>
        <p:txBody>
          <a:bodyPr wrap="square" lIns="0" tIns="0" rIns="0" bIns="0" rtlCol="0" anchor="ctr"/>
          <a:lstStyle/>
          <a:p>
            <a:pPr algn="ctr" indent="0" marL="0">
              <a:buNone/>
            </a:pPr>
            <a:r>
              <a:rPr lang="en-US" sz="2000" b="1" dirty="0">
                <a:solidFill>
                  <a:schemeClr val="tx1"/>
                </a:solidFill>
              </a:rPr>
              <a:t>ICT gear in minutes: simpler and safer than ordering through chats</a:t>
            </a:r>
            <a:endParaRPr lang="en-US" sz="20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1005840"/>
          </a:xfrm>
          <a:prstGeom prst="rect">
            <a:avLst/>
          </a:prstGeom>
          <a:noFill/>
          <a:ln/>
        </p:spPr>
        <p:txBody>
          <a:bodyPr wrap="square" lIns="0" tIns="0" rIns="0" bIns="0" rtlCol="0" anchor="ctr"/>
          <a:lstStyle/>
          <a:p>
            <a:pPr indent="0" marL="0">
              <a:buNone/>
            </a:pPr>
            <a:r>
              <a:rPr lang="en-US" sz="3600" b="1" dirty="0">
                <a:solidFill>
                  <a:schemeClr val="tx1"/>
                </a:solidFill>
              </a:rPr>
              <a:t>Who we serve and how we reach them</a:t>
            </a:r>
            <a:endParaRPr lang="en-US" sz="3600" dirty="0"/>
          </a:p>
        </p:txBody>
      </p:sp>
      <p:sp>
        <p:nvSpPr>
          <p:cNvPr id="3" name="Segments card"/>
          <p:cNvSpPr/>
          <p:nvPr/>
        </p:nvSpPr>
        <p:spPr>
          <a:xfrm>
            <a:off x="640080" y="1691640"/>
            <a:ext cx="3383280" cy="4389120"/>
          </a:xfrm>
          <a:prstGeom prst="roundRect">
            <a:avLst>
              <a:gd name="adj" fmla="val 3243"/>
            </a:avLst>
          </a:prstGeom>
          <a:solidFill>
            <a:schemeClr val="bg2"/>
          </a:solidFill>
          <a:ln/>
        </p:spPr>
      </p:sp>
      <p:sp>
        <p:nvSpPr>
          <p:cNvPr id="4" name="Segments circle"/>
          <p:cNvSpPr/>
          <p:nvPr/>
        </p:nvSpPr>
        <p:spPr>
          <a:xfrm>
            <a:off x="868680" y="1920240"/>
            <a:ext cx="548640" cy="548640"/>
          </a:xfrm>
          <a:prstGeom prst="ellipse">
            <a:avLst/>
          </a:prstGeom>
          <a:solidFill>
            <a:schemeClr val="tx1"/>
          </a:solidFill>
          <a:ln/>
        </p:spPr>
      </p:sp>
      <p:pic>
        <p:nvPicPr>
          <p:cNvPr id="5" name="Segments icon" descr="Segments">    </p:cNvPr>
          <p:cNvPicPr>
            <a:picLocks noChangeAspect="1"/>
          </p:cNvPicPr>
          <p:nvPr/>
        </p:nvPicPr>
        <p:blipFill>
          <a:blip r:embed="rId1"/>
          <a:stretch>
            <a:fillRect/>
          </a:stretch>
        </p:blipFill>
        <p:spPr>
          <a:xfrm>
            <a:off x="1016813" y="2068373"/>
            <a:ext cx="252374" cy="252374"/>
          </a:xfrm>
          <a:prstGeom prst="rect">
            <a:avLst/>
          </a:prstGeom>
        </p:spPr>
      </p:pic>
      <p:sp>
        <p:nvSpPr>
          <p:cNvPr id="6" name="Text 3"/>
          <p:cNvSpPr txBox="1"/>
          <p:nvPr/>
        </p:nvSpPr>
        <p:spPr>
          <a:xfrm>
            <a:off x="1554480" y="1920240"/>
            <a:ext cx="2377440" cy="548640"/>
          </a:xfrm>
          <a:prstGeom prst="rect">
            <a:avLst/>
          </a:prstGeom>
          <a:noFill/>
          <a:ln/>
        </p:spPr>
        <p:txBody>
          <a:bodyPr wrap="square" lIns="0" tIns="0" rIns="0" bIns="0" rtlCol="0" anchor="ctr"/>
          <a:lstStyle/>
          <a:p>
            <a:pPr indent="0" marL="0">
              <a:buNone/>
            </a:pPr>
            <a:r>
              <a:rPr lang="en-US" sz="1400" b="1" spc="100" kern="0" dirty="0">
                <a:solidFill>
                  <a:schemeClr val="tx1"/>
                </a:solidFill>
              </a:rPr>
              <a:t>CUSTOMER SEGMENTS</a:t>
            </a:r>
            <a:endParaRPr lang="en-US" sz="1400" dirty="0"/>
          </a:p>
        </p:txBody>
      </p:sp>
      <p:sp>
        <p:nvSpPr>
          <p:cNvPr id="7" name="Text 4"/>
          <p:cNvSpPr txBox="1"/>
          <p:nvPr/>
        </p:nvSpPr>
        <p:spPr>
          <a:xfrm>
            <a:off x="868680" y="2834640"/>
            <a:ext cx="2926080" cy="411480"/>
          </a:xfrm>
          <a:prstGeom prst="rect">
            <a:avLst/>
          </a:prstGeom>
          <a:noFill/>
          <a:ln/>
        </p:spPr>
        <p:txBody>
          <a:bodyPr wrap="square" lIns="0" tIns="0" rIns="0" bIns="0" rtlCol="0" anchor="t"/>
          <a:lstStyle/>
          <a:p>
            <a:pPr indent="0" marL="0">
              <a:buNone/>
            </a:pPr>
            <a:r>
              <a:rPr lang="en-US" sz="2000" b="1" dirty="0">
                <a:solidFill>
                  <a:schemeClr val="tx1"/>
                </a:solidFill>
              </a:rPr>
              <a:t>ICT students</a:t>
            </a:r>
            <a:endParaRPr lang="en-US" sz="2000" dirty="0"/>
          </a:p>
        </p:txBody>
      </p:sp>
      <p:sp>
        <p:nvSpPr>
          <p:cNvPr id="8" name="Text 5"/>
          <p:cNvSpPr txBox="1"/>
          <p:nvPr/>
        </p:nvSpPr>
        <p:spPr>
          <a:xfrm>
            <a:off x="868680" y="3291840"/>
            <a:ext cx="2926080" cy="320040"/>
          </a:xfrm>
          <a:prstGeom prst="rect">
            <a:avLst/>
          </a:prstGeom>
          <a:noFill/>
          <a:ln/>
        </p:spPr>
        <p:txBody>
          <a:bodyPr wrap="square" lIns="0" tIns="0" rIns="0" bIns="0" rtlCol="0" anchor="t"/>
          <a:lstStyle/>
          <a:p>
            <a:pPr indent="0" marL="0">
              <a:buNone/>
            </a:pPr>
            <a:r>
              <a:rPr lang="en-US" sz="1400" dirty="0">
                <a:solidFill>
                  <a:srgbClr val="4A5275"/>
                </a:solidFill>
              </a:rPr>
              <a:t>First years to finalists</a:t>
            </a:r>
            <a:endParaRPr lang="en-US" sz="1400" dirty="0"/>
          </a:p>
        </p:txBody>
      </p:sp>
      <p:sp>
        <p:nvSpPr>
          <p:cNvPr id="9" name="Text 6"/>
          <p:cNvSpPr txBox="1"/>
          <p:nvPr/>
        </p:nvSpPr>
        <p:spPr>
          <a:xfrm>
            <a:off x="868680" y="3886200"/>
            <a:ext cx="2926080" cy="411480"/>
          </a:xfrm>
          <a:prstGeom prst="rect">
            <a:avLst/>
          </a:prstGeom>
          <a:noFill/>
          <a:ln/>
        </p:spPr>
        <p:txBody>
          <a:bodyPr wrap="square" lIns="0" tIns="0" rIns="0" bIns="0" rtlCol="0" anchor="t"/>
          <a:lstStyle/>
          <a:p>
            <a:pPr indent="0" marL="0">
              <a:buNone/>
            </a:pPr>
            <a:r>
              <a:rPr lang="en-US" sz="2000" b="1" dirty="0">
                <a:solidFill>
                  <a:schemeClr val="tx1"/>
                </a:solidFill>
              </a:rPr>
              <a:t>Classes &amp; societies</a:t>
            </a:r>
            <a:endParaRPr lang="en-US" sz="2000" dirty="0"/>
          </a:p>
        </p:txBody>
      </p:sp>
      <p:sp>
        <p:nvSpPr>
          <p:cNvPr id="10" name="Text 7"/>
          <p:cNvSpPr txBox="1"/>
          <p:nvPr/>
        </p:nvSpPr>
        <p:spPr>
          <a:xfrm>
            <a:off x="868680" y="4343400"/>
            <a:ext cx="2926080" cy="320040"/>
          </a:xfrm>
          <a:prstGeom prst="rect">
            <a:avLst/>
          </a:prstGeom>
          <a:noFill/>
          <a:ln/>
        </p:spPr>
        <p:txBody>
          <a:bodyPr wrap="square" lIns="0" tIns="0" rIns="0" bIns="0" rtlCol="0" anchor="t"/>
          <a:lstStyle/>
          <a:p>
            <a:pPr indent="0" marL="0">
              <a:buNone/>
            </a:pPr>
            <a:r>
              <a:rPr lang="en-US" sz="1400" dirty="0">
                <a:solidFill>
                  <a:srgbClr val="4A5275"/>
                </a:solidFill>
              </a:rPr>
              <a:t>Bulk and group orders</a:t>
            </a:r>
            <a:endParaRPr lang="en-US" sz="1400" dirty="0"/>
          </a:p>
        </p:txBody>
      </p:sp>
      <p:sp>
        <p:nvSpPr>
          <p:cNvPr id="11" name="Text 8"/>
          <p:cNvSpPr txBox="1"/>
          <p:nvPr/>
        </p:nvSpPr>
        <p:spPr>
          <a:xfrm>
            <a:off x="868680" y="4937760"/>
            <a:ext cx="2926080" cy="411480"/>
          </a:xfrm>
          <a:prstGeom prst="rect">
            <a:avLst/>
          </a:prstGeom>
          <a:noFill/>
          <a:ln/>
        </p:spPr>
        <p:txBody>
          <a:bodyPr wrap="square" lIns="0" tIns="0" rIns="0" bIns="0" rtlCol="0" anchor="t"/>
          <a:lstStyle/>
          <a:p>
            <a:pPr indent="0" marL="0">
              <a:buNone/>
            </a:pPr>
            <a:r>
              <a:rPr lang="en-US" sz="2000" b="1" dirty="0">
                <a:solidFill>
                  <a:schemeClr val="tx1"/>
                </a:solidFill>
              </a:rPr>
              <a:t>Next: alumni &amp; staff</a:t>
            </a:r>
            <a:endParaRPr lang="en-US" sz="2000" dirty="0"/>
          </a:p>
        </p:txBody>
      </p:sp>
      <p:sp>
        <p:nvSpPr>
          <p:cNvPr id="12" name="Text 9"/>
          <p:cNvSpPr txBox="1"/>
          <p:nvPr/>
        </p:nvSpPr>
        <p:spPr>
          <a:xfrm>
            <a:off x="868680" y="5394960"/>
            <a:ext cx="2926080" cy="320040"/>
          </a:xfrm>
          <a:prstGeom prst="rect">
            <a:avLst/>
          </a:prstGeom>
          <a:noFill/>
          <a:ln/>
        </p:spPr>
        <p:txBody>
          <a:bodyPr wrap="square" lIns="0" tIns="0" rIns="0" bIns="0" rtlCol="0" anchor="t"/>
          <a:lstStyle/>
          <a:p>
            <a:pPr indent="0" marL="0">
              <a:buNone/>
            </a:pPr>
            <a:r>
              <a:rPr lang="en-US" sz="1400" dirty="0">
                <a:solidFill>
                  <a:srgbClr val="4A5275"/>
                </a:solidFill>
              </a:rPr>
              <a:t>Later growth</a:t>
            </a:r>
            <a:endParaRPr lang="en-US" sz="1400" dirty="0"/>
          </a:p>
        </p:txBody>
      </p:sp>
      <p:sp>
        <p:nvSpPr>
          <p:cNvPr id="13" name="Value proposition card"/>
          <p:cNvSpPr/>
          <p:nvPr/>
        </p:nvSpPr>
        <p:spPr>
          <a:xfrm>
            <a:off x="4251960" y="1691640"/>
            <a:ext cx="3611880" cy="4389120"/>
          </a:xfrm>
          <a:prstGeom prst="roundRect">
            <a:avLst>
              <a:gd name="adj" fmla="val 3038"/>
            </a:avLst>
          </a:prstGeom>
          <a:solidFill>
            <a:schemeClr val="tx1"/>
          </a:solidFill>
          <a:ln/>
        </p:spPr>
      </p:sp>
      <p:sp>
        <p:nvSpPr>
          <p:cNvPr id="14" name="Value proposition circle"/>
          <p:cNvSpPr/>
          <p:nvPr/>
        </p:nvSpPr>
        <p:spPr>
          <a:xfrm>
            <a:off x="4480560" y="1920240"/>
            <a:ext cx="548640" cy="548640"/>
          </a:xfrm>
          <a:prstGeom prst="ellipse">
            <a:avLst/>
          </a:prstGeom>
          <a:solidFill>
            <a:schemeClr val="accent1"/>
          </a:solidFill>
          <a:ln/>
        </p:spPr>
      </p:sp>
      <p:pic>
        <p:nvPicPr>
          <p:cNvPr id="15" name="Value proposition icon" descr="Value proposition">    </p:cNvPr>
          <p:cNvPicPr>
            <a:picLocks noChangeAspect="1"/>
          </p:cNvPicPr>
          <p:nvPr/>
        </p:nvPicPr>
        <p:blipFill>
          <a:blip r:embed="rId2"/>
          <a:stretch>
            <a:fillRect/>
          </a:stretch>
        </p:blipFill>
        <p:spPr>
          <a:xfrm>
            <a:off x="4628693" y="2068373"/>
            <a:ext cx="252374" cy="252374"/>
          </a:xfrm>
          <a:prstGeom prst="rect">
            <a:avLst/>
          </a:prstGeom>
        </p:spPr>
      </p:pic>
      <p:sp>
        <p:nvSpPr>
          <p:cNvPr id="16" name="Text 12"/>
          <p:cNvSpPr txBox="1"/>
          <p:nvPr/>
        </p:nvSpPr>
        <p:spPr>
          <a:xfrm>
            <a:off x="5166360" y="1920240"/>
            <a:ext cx="2560320" cy="548640"/>
          </a:xfrm>
          <a:prstGeom prst="rect">
            <a:avLst/>
          </a:prstGeom>
          <a:noFill/>
          <a:ln/>
        </p:spPr>
        <p:txBody>
          <a:bodyPr wrap="square" lIns="0" tIns="0" rIns="0" bIns="0" rtlCol="0" anchor="ctr"/>
          <a:lstStyle/>
          <a:p>
            <a:pPr indent="0" marL="0">
              <a:buNone/>
            </a:pPr>
            <a:r>
              <a:rPr lang="en-US" sz="1400" b="1" spc="100" kern="0" dirty="0">
                <a:solidFill>
                  <a:schemeClr val="accent1"/>
                </a:solidFill>
              </a:rPr>
              <a:t>VALUE PROPOSITION</a:t>
            </a:r>
            <a:endParaRPr lang="en-US" sz="1400" dirty="0"/>
          </a:p>
        </p:txBody>
      </p:sp>
      <p:sp>
        <p:nvSpPr>
          <p:cNvPr id="17" name="Text 13"/>
          <p:cNvSpPr txBox="1"/>
          <p:nvPr/>
        </p:nvSpPr>
        <p:spPr>
          <a:xfrm>
            <a:off x="4480560" y="2651760"/>
            <a:ext cx="3154680" cy="1097280"/>
          </a:xfrm>
          <a:prstGeom prst="rect">
            <a:avLst/>
          </a:prstGeom>
          <a:noFill/>
          <a:ln/>
        </p:spPr>
        <p:txBody>
          <a:bodyPr wrap="square" lIns="0" tIns="0" rIns="0" bIns="0" rtlCol="0" anchor="t"/>
          <a:lstStyle/>
          <a:p>
            <a:pPr indent="0" marL="0">
              <a:buNone/>
            </a:pPr>
            <a:r>
              <a:rPr lang="en-US" sz="2100" b="1" dirty="0">
                <a:solidFill>
                  <a:schemeClr val="bg1"/>
                </a:solidFill>
              </a:rPr>
              <a:t>ICT-branded gear in minutes: simple, safe, student-priced</a:t>
            </a:r>
            <a:endParaRPr lang="en-US" sz="2100" dirty="0"/>
          </a:p>
        </p:txBody>
      </p:sp>
      <p:pic>
        <p:nvPicPr>
          <p:cNvPr id="18" name="App sign-in screen" descr="ItemHive sign-in screen with student and admin options">    </p:cNvPr>
          <p:cNvPicPr>
            <a:picLocks noChangeAspect="1"/>
          </p:cNvPicPr>
          <p:nvPr/>
        </p:nvPicPr>
        <p:blipFill>
          <a:blip r:embed="rId3"/>
          <a:stretch>
            <a:fillRect/>
          </a:stretch>
        </p:blipFill>
        <p:spPr>
          <a:xfrm>
            <a:off x="5321808" y="3794760"/>
            <a:ext cx="1472184" cy="2240280"/>
          </a:xfrm>
          <a:prstGeom prst="rect">
            <a:avLst/>
          </a:prstGeom>
        </p:spPr>
      </p:pic>
      <p:sp>
        <p:nvSpPr>
          <p:cNvPr id="19" name="Channels card"/>
          <p:cNvSpPr/>
          <p:nvPr/>
        </p:nvSpPr>
        <p:spPr>
          <a:xfrm>
            <a:off x="8092440" y="1691640"/>
            <a:ext cx="3456432" cy="2103120"/>
          </a:xfrm>
          <a:prstGeom prst="roundRect">
            <a:avLst>
              <a:gd name="adj" fmla="val 5217"/>
            </a:avLst>
          </a:prstGeom>
          <a:solidFill>
            <a:schemeClr val="bg2"/>
          </a:solidFill>
          <a:ln/>
        </p:spPr>
      </p:sp>
      <p:sp>
        <p:nvSpPr>
          <p:cNvPr id="20" name="Channels circle"/>
          <p:cNvSpPr/>
          <p:nvPr/>
        </p:nvSpPr>
        <p:spPr>
          <a:xfrm>
            <a:off x="8321040" y="1874520"/>
            <a:ext cx="502920" cy="502920"/>
          </a:xfrm>
          <a:prstGeom prst="ellipse">
            <a:avLst/>
          </a:prstGeom>
          <a:solidFill>
            <a:schemeClr val="tx1"/>
          </a:solidFill>
          <a:ln/>
        </p:spPr>
      </p:sp>
      <p:pic>
        <p:nvPicPr>
          <p:cNvPr id="21" name="Channels icon" descr="Channels">    </p:cNvPr>
          <p:cNvPicPr>
            <a:picLocks noChangeAspect="1"/>
          </p:cNvPicPr>
          <p:nvPr/>
        </p:nvPicPr>
        <p:blipFill>
          <a:blip r:embed="rId4"/>
          <a:stretch>
            <a:fillRect/>
          </a:stretch>
        </p:blipFill>
        <p:spPr>
          <a:xfrm>
            <a:off x="8456828" y="2010308"/>
            <a:ext cx="231343" cy="231343"/>
          </a:xfrm>
          <a:prstGeom prst="rect">
            <a:avLst/>
          </a:prstGeom>
        </p:spPr>
      </p:pic>
      <p:sp>
        <p:nvSpPr>
          <p:cNvPr id="22" name="Text 16"/>
          <p:cNvSpPr txBox="1"/>
          <p:nvPr/>
        </p:nvSpPr>
        <p:spPr>
          <a:xfrm>
            <a:off x="8961120" y="1874520"/>
            <a:ext cx="2468880" cy="502920"/>
          </a:xfrm>
          <a:prstGeom prst="rect">
            <a:avLst/>
          </a:prstGeom>
          <a:noFill/>
          <a:ln/>
        </p:spPr>
        <p:txBody>
          <a:bodyPr wrap="square" lIns="0" tIns="0" rIns="0" bIns="0" rtlCol="0" anchor="ctr"/>
          <a:lstStyle/>
          <a:p>
            <a:pPr indent="0" marL="0">
              <a:buNone/>
            </a:pPr>
            <a:r>
              <a:rPr lang="en-US" sz="1400" b="1" spc="100" kern="0" dirty="0">
                <a:solidFill>
                  <a:schemeClr val="tx1"/>
                </a:solidFill>
              </a:rPr>
              <a:t>CHANNELS</a:t>
            </a:r>
            <a:endParaRPr lang="en-US" sz="1400" dirty="0"/>
          </a:p>
        </p:txBody>
      </p:sp>
      <p:sp>
        <p:nvSpPr>
          <p:cNvPr id="23" name="Text 17"/>
          <p:cNvSpPr txBox="1"/>
          <p:nvPr/>
        </p:nvSpPr>
        <p:spPr>
          <a:xfrm>
            <a:off x="8321040" y="2560320"/>
            <a:ext cx="3063240" cy="1143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ItemHive web app</a:t>
            </a:r>
            <a:endParaRPr lang="en-US" sz="1500" dirty="0"/>
          </a:p>
          <a:p>
            <a:pPr marL="342900" indent="-342900">
              <a:spcAft>
                <a:spcPts val="600"/>
              </a:spcAft>
              <a:buSzPct val="100000"/>
              <a:buChar char="•"/>
            </a:pPr>
            <a:r>
              <a:rPr lang="en-US" sz="1500" dirty="0">
                <a:solidFill>
                  <a:schemeClr val="tx1"/>
                </a:solidFill>
              </a:rPr>
              <a:t>Free residence delivery</a:t>
            </a:r>
            <a:endParaRPr lang="en-US" sz="1500" dirty="0"/>
          </a:p>
          <a:p>
            <a:pPr marL="342900" indent="-342900">
              <a:spcAft>
                <a:spcPts val="600"/>
              </a:spcAft>
              <a:buSzPct val="100000"/>
              <a:buChar char="•"/>
            </a:pPr>
            <a:r>
              <a:rPr lang="en-US" sz="1500" dirty="0">
                <a:solidFill>
                  <a:schemeClr val="tx1"/>
                </a:solidFill>
              </a:rPr>
              <a:t>PAXI store-to-store</a:t>
            </a:r>
            <a:endParaRPr lang="en-US" sz="1500" dirty="0"/>
          </a:p>
        </p:txBody>
      </p:sp>
      <p:sp>
        <p:nvSpPr>
          <p:cNvPr id="24" name="Relationships card"/>
          <p:cNvSpPr/>
          <p:nvPr/>
        </p:nvSpPr>
        <p:spPr>
          <a:xfrm>
            <a:off x="8092440" y="3977640"/>
            <a:ext cx="3456432" cy="2103120"/>
          </a:xfrm>
          <a:prstGeom prst="roundRect">
            <a:avLst>
              <a:gd name="adj" fmla="val 5217"/>
            </a:avLst>
          </a:prstGeom>
          <a:solidFill>
            <a:schemeClr val="bg2"/>
          </a:solidFill>
          <a:ln/>
        </p:spPr>
      </p:sp>
      <p:sp>
        <p:nvSpPr>
          <p:cNvPr id="25" name="Relationships circle"/>
          <p:cNvSpPr/>
          <p:nvPr/>
        </p:nvSpPr>
        <p:spPr>
          <a:xfrm>
            <a:off x="8321040" y="4160520"/>
            <a:ext cx="502920" cy="502920"/>
          </a:xfrm>
          <a:prstGeom prst="ellipse">
            <a:avLst/>
          </a:prstGeom>
          <a:solidFill>
            <a:schemeClr val="tx1"/>
          </a:solidFill>
          <a:ln/>
        </p:spPr>
      </p:sp>
      <p:pic>
        <p:nvPicPr>
          <p:cNvPr id="26" name="Relationships icon" descr="Relationships">    </p:cNvPr>
          <p:cNvPicPr>
            <a:picLocks noChangeAspect="1"/>
          </p:cNvPicPr>
          <p:nvPr/>
        </p:nvPicPr>
        <p:blipFill>
          <a:blip r:embed="rId5"/>
          <a:stretch>
            <a:fillRect/>
          </a:stretch>
        </p:blipFill>
        <p:spPr>
          <a:xfrm>
            <a:off x="8456828" y="4296308"/>
            <a:ext cx="231343" cy="231343"/>
          </a:xfrm>
          <a:prstGeom prst="rect">
            <a:avLst/>
          </a:prstGeom>
        </p:spPr>
      </p:pic>
      <p:sp>
        <p:nvSpPr>
          <p:cNvPr id="27" name="Text 20"/>
          <p:cNvSpPr txBox="1"/>
          <p:nvPr/>
        </p:nvSpPr>
        <p:spPr>
          <a:xfrm>
            <a:off x="8961120" y="4160520"/>
            <a:ext cx="2468880" cy="502920"/>
          </a:xfrm>
          <a:prstGeom prst="rect">
            <a:avLst/>
          </a:prstGeom>
          <a:noFill/>
          <a:ln/>
        </p:spPr>
        <p:txBody>
          <a:bodyPr wrap="square" lIns="0" tIns="0" rIns="0" bIns="0" rtlCol="0" anchor="ctr"/>
          <a:lstStyle/>
          <a:p>
            <a:pPr indent="0" marL="0">
              <a:buNone/>
            </a:pPr>
            <a:r>
              <a:rPr lang="en-US" sz="1400" b="1" spc="100" kern="0" dirty="0">
                <a:solidFill>
                  <a:schemeClr val="tx1"/>
                </a:solidFill>
              </a:rPr>
              <a:t>CUSTOMER RELATIONSHIPS</a:t>
            </a:r>
            <a:endParaRPr lang="en-US" sz="1400" dirty="0"/>
          </a:p>
        </p:txBody>
      </p:sp>
      <p:sp>
        <p:nvSpPr>
          <p:cNvPr id="28" name="Text 21"/>
          <p:cNvSpPr txBox="1"/>
          <p:nvPr/>
        </p:nvSpPr>
        <p:spPr>
          <a:xfrm>
            <a:off x="8321040" y="4846320"/>
            <a:ext cx="3063240" cy="1143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Self-service accounts</a:t>
            </a:r>
            <a:endParaRPr lang="en-US" sz="1500" dirty="0"/>
          </a:p>
          <a:p>
            <a:pPr marL="342900" indent="-342900">
              <a:spcAft>
                <a:spcPts val="600"/>
              </a:spcAft>
              <a:buSzPct val="100000"/>
              <a:buChar char="•"/>
            </a:pPr>
            <a:r>
              <a:rPr lang="en-US" sz="1500" dirty="0">
                <a:solidFill>
                  <a:schemeClr val="tx1"/>
                </a:solidFill>
              </a:rPr>
              <a:t>Order &amp; verification emails</a:t>
            </a:r>
            <a:endParaRPr lang="en-US" sz="1500" dirty="0"/>
          </a:p>
          <a:p>
            <a:pPr marL="342900" indent="-342900">
              <a:spcAft>
                <a:spcPts val="600"/>
              </a:spcAft>
              <a:buSzPct val="100000"/>
              <a:buChar char="•"/>
            </a:pPr>
            <a:r>
              <a:rPr lang="en-US" sz="1500" dirty="0">
                <a:solidFill>
                  <a:schemeClr val="tx1"/>
                </a:solidFill>
              </a:rPr>
              <a:t>20% student discount</a:t>
            </a:r>
            <a:endParaRPr lang="en-US" sz="15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1005840"/>
          </a:xfrm>
          <a:prstGeom prst="rect">
            <a:avLst/>
          </a:prstGeom>
          <a:noFill/>
          <a:ln/>
        </p:spPr>
        <p:txBody>
          <a:bodyPr wrap="square" lIns="0" tIns="0" rIns="0" bIns="0" rtlCol="0" anchor="ctr"/>
          <a:lstStyle/>
          <a:p>
            <a:pPr indent="0" marL="0">
              <a:buNone/>
            </a:pPr>
            <a:r>
              <a:rPr lang="en-US" sz="3600" b="1" dirty="0">
                <a:solidFill>
                  <a:schemeClr val="tx1"/>
                </a:solidFill>
              </a:rPr>
              <a:t>Behind the scenes: how it makes money</a:t>
            </a:r>
            <a:endParaRPr lang="en-US" sz="3600" dirty="0"/>
          </a:p>
        </p:txBody>
      </p:sp>
      <p:sp>
        <p:nvSpPr>
          <p:cNvPr id="3" name="KEY PARTNERS card"/>
          <p:cNvSpPr/>
          <p:nvPr/>
        </p:nvSpPr>
        <p:spPr>
          <a:xfrm>
            <a:off x="640080" y="1691640"/>
            <a:ext cx="3474720" cy="2148840"/>
          </a:xfrm>
          <a:prstGeom prst="roundRect">
            <a:avLst>
              <a:gd name="adj" fmla="val 5106"/>
            </a:avLst>
          </a:prstGeom>
          <a:solidFill>
            <a:schemeClr val="bg2"/>
          </a:solidFill>
          <a:ln/>
        </p:spPr>
      </p:sp>
      <p:sp>
        <p:nvSpPr>
          <p:cNvPr id="4" name="KEY PARTNERS circle"/>
          <p:cNvSpPr/>
          <p:nvPr/>
        </p:nvSpPr>
        <p:spPr>
          <a:xfrm>
            <a:off x="868680" y="1874520"/>
            <a:ext cx="502920" cy="502920"/>
          </a:xfrm>
          <a:prstGeom prst="ellipse">
            <a:avLst/>
          </a:prstGeom>
          <a:solidFill>
            <a:schemeClr val="tx1"/>
          </a:solidFill>
          <a:ln/>
        </p:spPr>
      </p:sp>
      <p:pic>
        <p:nvPicPr>
          <p:cNvPr id="5" name="KEY PARTNERS icon" descr="KEY PARTNERS">    </p:cNvPr>
          <p:cNvPicPr>
            <a:picLocks noChangeAspect="1"/>
          </p:cNvPicPr>
          <p:nvPr/>
        </p:nvPicPr>
        <p:blipFill>
          <a:blip r:embed="rId1"/>
          <a:stretch>
            <a:fillRect/>
          </a:stretch>
        </p:blipFill>
        <p:spPr>
          <a:xfrm>
            <a:off x="1004468" y="2010308"/>
            <a:ext cx="231343" cy="231343"/>
          </a:xfrm>
          <a:prstGeom prst="rect">
            <a:avLst/>
          </a:prstGeom>
        </p:spPr>
      </p:pic>
      <p:sp>
        <p:nvSpPr>
          <p:cNvPr id="6" name="Text 3"/>
          <p:cNvSpPr txBox="1"/>
          <p:nvPr/>
        </p:nvSpPr>
        <p:spPr>
          <a:xfrm>
            <a:off x="1554480" y="1874520"/>
            <a:ext cx="2377440" cy="502920"/>
          </a:xfrm>
          <a:prstGeom prst="rect">
            <a:avLst/>
          </a:prstGeom>
          <a:noFill/>
          <a:ln/>
        </p:spPr>
        <p:txBody>
          <a:bodyPr wrap="square" lIns="0" tIns="0" rIns="0" bIns="0" rtlCol="0" anchor="ctr"/>
          <a:lstStyle/>
          <a:p>
            <a:pPr indent="0" marL="0">
              <a:buNone/>
            </a:pPr>
            <a:r>
              <a:rPr lang="en-US" sz="1400" b="1" spc="100" kern="0" dirty="0">
                <a:solidFill>
                  <a:schemeClr val="tx1"/>
                </a:solidFill>
              </a:rPr>
              <a:t>KEY PARTNERS</a:t>
            </a:r>
            <a:endParaRPr lang="en-US" sz="1400" dirty="0"/>
          </a:p>
        </p:txBody>
      </p:sp>
      <p:sp>
        <p:nvSpPr>
          <p:cNvPr id="7" name="Text 4"/>
          <p:cNvSpPr txBox="1"/>
          <p:nvPr/>
        </p:nvSpPr>
        <p:spPr>
          <a:xfrm>
            <a:off x="914400" y="2560320"/>
            <a:ext cx="297180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Garment &amp; print supplier</a:t>
            </a:r>
            <a:endParaRPr lang="en-US" sz="1400" dirty="0"/>
          </a:p>
          <a:p>
            <a:pPr marL="342900" indent="-342900">
              <a:spcAft>
                <a:spcPts val="600"/>
              </a:spcAft>
              <a:buSzPct val="100000"/>
              <a:buChar char="•"/>
            </a:pPr>
            <a:r>
              <a:rPr lang="en-US" sz="1400" dirty="0">
                <a:solidFill>
                  <a:schemeClr val="tx1"/>
                </a:solidFill>
              </a:rPr>
              <a:t>PAXI courier</a:t>
            </a:r>
            <a:endParaRPr lang="en-US" sz="1400" dirty="0"/>
          </a:p>
          <a:p>
            <a:pPr marL="342900" indent="-342900">
              <a:spcAft>
                <a:spcPts val="600"/>
              </a:spcAft>
              <a:buSzPct val="100000"/>
              <a:buChar char="•"/>
            </a:pPr>
            <a:r>
              <a:rPr lang="en-US" sz="1400" dirty="0">
                <a:solidFill>
                  <a:schemeClr val="tx1"/>
                </a:solidFill>
              </a:rPr>
              <a:t>Yoco (card) &amp; EFT payments</a:t>
            </a:r>
            <a:endParaRPr lang="en-US" sz="1400" dirty="0"/>
          </a:p>
        </p:txBody>
      </p:sp>
      <p:sp>
        <p:nvSpPr>
          <p:cNvPr id="8" name="KEY ACTIVITIES card"/>
          <p:cNvSpPr/>
          <p:nvPr/>
        </p:nvSpPr>
        <p:spPr>
          <a:xfrm>
            <a:off x="4357116" y="1691640"/>
            <a:ext cx="3474720" cy="2148840"/>
          </a:xfrm>
          <a:prstGeom prst="roundRect">
            <a:avLst>
              <a:gd name="adj" fmla="val 5106"/>
            </a:avLst>
          </a:prstGeom>
          <a:solidFill>
            <a:schemeClr val="bg2"/>
          </a:solidFill>
          <a:ln/>
        </p:spPr>
      </p:sp>
      <p:sp>
        <p:nvSpPr>
          <p:cNvPr id="9" name="KEY ACTIVITIES circle"/>
          <p:cNvSpPr/>
          <p:nvPr/>
        </p:nvSpPr>
        <p:spPr>
          <a:xfrm>
            <a:off x="4585716" y="1874520"/>
            <a:ext cx="502920" cy="502920"/>
          </a:xfrm>
          <a:prstGeom prst="ellipse">
            <a:avLst/>
          </a:prstGeom>
          <a:solidFill>
            <a:schemeClr val="tx1"/>
          </a:solidFill>
          <a:ln/>
        </p:spPr>
      </p:sp>
      <p:pic>
        <p:nvPicPr>
          <p:cNvPr id="10" name="KEY ACTIVITIES icon" descr="KEY ACTIVITIES">    </p:cNvPr>
          <p:cNvPicPr>
            <a:picLocks noChangeAspect="1"/>
          </p:cNvPicPr>
          <p:nvPr/>
        </p:nvPicPr>
        <p:blipFill>
          <a:blip r:embed="rId2"/>
          <a:stretch>
            <a:fillRect/>
          </a:stretch>
        </p:blipFill>
        <p:spPr>
          <a:xfrm>
            <a:off x="4721504" y="2010308"/>
            <a:ext cx="231343" cy="231343"/>
          </a:xfrm>
          <a:prstGeom prst="rect">
            <a:avLst/>
          </a:prstGeom>
        </p:spPr>
      </p:pic>
      <p:sp>
        <p:nvSpPr>
          <p:cNvPr id="11" name="Text 7"/>
          <p:cNvSpPr txBox="1"/>
          <p:nvPr/>
        </p:nvSpPr>
        <p:spPr>
          <a:xfrm>
            <a:off x="5271516" y="1874520"/>
            <a:ext cx="2377440" cy="502920"/>
          </a:xfrm>
          <a:prstGeom prst="rect">
            <a:avLst/>
          </a:prstGeom>
          <a:noFill/>
          <a:ln/>
        </p:spPr>
        <p:txBody>
          <a:bodyPr wrap="square" lIns="0" tIns="0" rIns="0" bIns="0" rtlCol="0" anchor="ctr"/>
          <a:lstStyle/>
          <a:p>
            <a:pPr indent="0" marL="0">
              <a:buNone/>
            </a:pPr>
            <a:r>
              <a:rPr lang="en-US" sz="1400" b="1" spc="100" kern="0" dirty="0">
                <a:solidFill>
                  <a:schemeClr val="tx1"/>
                </a:solidFill>
              </a:rPr>
              <a:t>KEY ACTIVITIES</a:t>
            </a:r>
            <a:endParaRPr lang="en-US" sz="1400" dirty="0"/>
          </a:p>
        </p:txBody>
      </p:sp>
      <p:sp>
        <p:nvSpPr>
          <p:cNvPr id="12" name="Text 8"/>
          <p:cNvSpPr txBox="1"/>
          <p:nvPr/>
        </p:nvSpPr>
        <p:spPr>
          <a:xfrm>
            <a:off x="4631436" y="2560320"/>
            <a:ext cx="297180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Design &amp; curate ICT merch</a:t>
            </a:r>
            <a:endParaRPr lang="en-US" sz="1400" dirty="0"/>
          </a:p>
          <a:p>
            <a:pPr marL="342900" indent="-342900">
              <a:spcAft>
                <a:spcPts val="600"/>
              </a:spcAft>
              <a:buSzPct val="100000"/>
              <a:buChar char="•"/>
            </a:pPr>
            <a:r>
              <a:rPr lang="en-US" sz="1400" dirty="0">
                <a:solidFill>
                  <a:schemeClr val="tx1"/>
                </a:solidFill>
              </a:rPr>
              <a:t>Run the web store</a:t>
            </a:r>
            <a:endParaRPr lang="en-US" sz="1400" dirty="0"/>
          </a:p>
          <a:p>
            <a:pPr marL="342900" indent="-342900">
              <a:spcAft>
                <a:spcPts val="600"/>
              </a:spcAft>
              <a:buSzPct val="100000"/>
              <a:buChar char="•"/>
            </a:pPr>
            <a:r>
              <a:rPr lang="en-US" sz="1400" dirty="0">
                <a:solidFill>
                  <a:schemeClr val="tx1"/>
                </a:solidFill>
              </a:rPr>
              <a:t>Pack, ship &amp; support</a:t>
            </a:r>
            <a:endParaRPr lang="en-US" sz="1400" dirty="0"/>
          </a:p>
        </p:txBody>
      </p:sp>
      <p:sp>
        <p:nvSpPr>
          <p:cNvPr id="13" name="KEY RESOURCES card"/>
          <p:cNvSpPr/>
          <p:nvPr/>
        </p:nvSpPr>
        <p:spPr>
          <a:xfrm>
            <a:off x="8074152" y="1691640"/>
            <a:ext cx="3474720" cy="2148840"/>
          </a:xfrm>
          <a:prstGeom prst="roundRect">
            <a:avLst>
              <a:gd name="adj" fmla="val 5106"/>
            </a:avLst>
          </a:prstGeom>
          <a:solidFill>
            <a:schemeClr val="bg2"/>
          </a:solidFill>
          <a:ln/>
        </p:spPr>
      </p:sp>
      <p:sp>
        <p:nvSpPr>
          <p:cNvPr id="14" name="KEY RESOURCES circle"/>
          <p:cNvSpPr/>
          <p:nvPr/>
        </p:nvSpPr>
        <p:spPr>
          <a:xfrm>
            <a:off x="8302752" y="1874520"/>
            <a:ext cx="502920" cy="502920"/>
          </a:xfrm>
          <a:prstGeom prst="ellipse">
            <a:avLst/>
          </a:prstGeom>
          <a:solidFill>
            <a:schemeClr val="tx1"/>
          </a:solidFill>
          <a:ln/>
        </p:spPr>
      </p:sp>
      <p:pic>
        <p:nvPicPr>
          <p:cNvPr id="15" name="KEY RESOURCES icon" descr="KEY RESOURCES">    </p:cNvPr>
          <p:cNvPicPr>
            <a:picLocks noChangeAspect="1"/>
          </p:cNvPicPr>
          <p:nvPr/>
        </p:nvPicPr>
        <p:blipFill>
          <a:blip r:embed="rId3"/>
          <a:stretch>
            <a:fillRect/>
          </a:stretch>
        </p:blipFill>
        <p:spPr>
          <a:xfrm>
            <a:off x="8438540" y="2010308"/>
            <a:ext cx="231343" cy="231343"/>
          </a:xfrm>
          <a:prstGeom prst="rect">
            <a:avLst/>
          </a:prstGeom>
        </p:spPr>
      </p:pic>
      <p:sp>
        <p:nvSpPr>
          <p:cNvPr id="16" name="Text 11"/>
          <p:cNvSpPr txBox="1"/>
          <p:nvPr/>
        </p:nvSpPr>
        <p:spPr>
          <a:xfrm>
            <a:off x="8988552" y="1874520"/>
            <a:ext cx="2377440" cy="502920"/>
          </a:xfrm>
          <a:prstGeom prst="rect">
            <a:avLst/>
          </a:prstGeom>
          <a:noFill/>
          <a:ln/>
        </p:spPr>
        <p:txBody>
          <a:bodyPr wrap="square" lIns="0" tIns="0" rIns="0" bIns="0" rtlCol="0" anchor="ctr"/>
          <a:lstStyle/>
          <a:p>
            <a:pPr indent="0" marL="0">
              <a:buNone/>
            </a:pPr>
            <a:r>
              <a:rPr lang="en-US" sz="1400" b="1" spc="100" kern="0" dirty="0">
                <a:solidFill>
                  <a:schemeClr val="tx1"/>
                </a:solidFill>
              </a:rPr>
              <a:t>KEY RESOURCES</a:t>
            </a:r>
            <a:endParaRPr lang="en-US" sz="1400" dirty="0"/>
          </a:p>
        </p:txBody>
      </p:sp>
      <p:sp>
        <p:nvSpPr>
          <p:cNvPr id="17" name="Text 12"/>
          <p:cNvSpPr txBox="1"/>
          <p:nvPr/>
        </p:nvSpPr>
        <p:spPr>
          <a:xfrm>
            <a:off x="8348472" y="2560320"/>
            <a:ext cx="297180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ICT brand &amp; designs</a:t>
            </a:r>
            <a:endParaRPr lang="en-US" sz="1400" dirty="0"/>
          </a:p>
          <a:p>
            <a:pPr marL="342900" indent="-342900">
              <a:spcAft>
                <a:spcPts val="600"/>
              </a:spcAft>
              <a:buSzPct val="100000"/>
              <a:buChar char="•"/>
            </a:pPr>
            <a:r>
              <a:rPr lang="en-US" sz="1400" dirty="0">
                <a:solidFill>
                  <a:schemeClr val="tx1"/>
                </a:solidFill>
              </a:rPr>
              <a:t>React + Spring Boot platform</a:t>
            </a:r>
            <a:endParaRPr lang="en-US" sz="1400" dirty="0"/>
          </a:p>
          <a:p>
            <a:pPr marL="342900" indent="-342900">
              <a:spcAft>
                <a:spcPts val="600"/>
              </a:spcAft>
              <a:buSzPct val="100000"/>
              <a:buChar char="•"/>
            </a:pPr>
            <a:r>
              <a:rPr lang="en-US" sz="1400" dirty="0">
                <a:solidFill>
                  <a:schemeClr val="tx1"/>
                </a:solidFill>
              </a:rPr>
              <a:t>Admin dashboard for stock &amp; orders</a:t>
            </a:r>
            <a:endParaRPr lang="en-US" sz="1400" dirty="0"/>
          </a:p>
        </p:txBody>
      </p:sp>
      <p:sp>
        <p:nvSpPr>
          <p:cNvPr id="18" name="Revenue card"/>
          <p:cNvSpPr/>
          <p:nvPr/>
        </p:nvSpPr>
        <p:spPr>
          <a:xfrm>
            <a:off x="640080" y="4069080"/>
            <a:ext cx="6400800" cy="2103120"/>
          </a:xfrm>
          <a:prstGeom prst="roundRect">
            <a:avLst>
              <a:gd name="adj" fmla="val 5217"/>
            </a:avLst>
          </a:prstGeom>
          <a:solidFill>
            <a:schemeClr val="accent1"/>
          </a:solidFill>
          <a:ln/>
        </p:spPr>
      </p:sp>
      <p:sp>
        <p:nvSpPr>
          <p:cNvPr id="19" name="Revenue circle"/>
          <p:cNvSpPr/>
          <p:nvPr/>
        </p:nvSpPr>
        <p:spPr>
          <a:xfrm>
            <a:off x="868680" y="4251960"/>
            <a:ext cx="502920" cy="502920"/>
          </a:xfrm>
          <a:prstGeom prst="ellipse">
            <a:avLst/>
          </a:prstGeom>
          <a:solidFill>
            <a:schemeClr val="bg1"/>
          </a:solidFill>
          <a:ln/>
        </p:spPr>
      </p:sp>
      <p:pic>
        <p:nvPicPr>
          <p:cNvPr id="20" name="Revenue icon" descr="Revenue">    </p:cNvPr>
          <p:cNvPicPr>
            <a:picLocks noChangeAspect="1"/>
          </p:cNvPicPr>
          <p:nvPr/>
        </p:nvPicPr>
        <p:blipFill>
          <a:blip r:embed="rId4"/>
          <a:stretch>
            <a:fillRect/>
          </a:stretch>
        </p:blipFill>
        <p:spPr>
          <a:xfrm>
            <a:off x="1004468" y="4387748"/>
            <a:ext cx="231343" cy="231343"/>
          </a:xfrm>
          <a:prstGeom prst="rect">
            <a:avLst/>
          </a:prstGeom>
        </p:spPr>
      </p:pic>
      <p:sp>
        <p:nvSpPr>
          <p:cNvPr id="21" name="Text 15"/>
          <p:cNvSpPr txBox="1"/>
          <p:nvPr/>
        </p:nvSpPr>
        <p:spPr>
          <a:xfrm>
            <a:off x="1554480" y="4251960"/>
            <a:ext cx="3657600" cy="502920"/>
          </a:xfrm>
          <a:prstGeom prst="rect">
            <a:avLst/>
          </a:prstGeom>
          <a:noFill/>
          <a:ln/>
        </p:spPr>
        <p:txBody>
          <a:bodyPr wrap="square" lIns="0" tIns="0" rIns="0" bIns="0" rtlCol="0" anchor="ctr"/>
          <a:lstStyle/>
          <a:p>
            <a:pPr indent="0" marL="0">
              <a:buNone/>
            </a:pPr>
            <a:r>
              <a:rPr lang="en-US" sz="1400" b="1" spc="100" kern="0" dirty="0">
                <a:solidFill>
                  <a:schemeClr val="tx1"/>
                </a:solidFill>
              </a:rPr>
              <a:t>REVENUE STREAMS</a:t>
            </a:r>
            <a:endParaRPr lang="en-US" sz="1400" dirty="0"/>
          </a:p>
        </p:txBody>
      </p:sp>
      <p:sp>
        <p:nvSpPr>
          <p:cNvPr id="22" name="Text 16"/>
          <p:cNvSpPr txBox="1"/>
          <p:nvPr/>
        </p:nvSpPr>
        <p:spPr>
          <a:xfrm>
            <a:off x="868680" y="4937760"/>
            <a:ext cx="2834640" cy="640080"/>
          </a:xfrm>
          <a:prstGeom prst="rect">
            <a:avLst/>
          </a:prstGeom>
          <a:noFill/>
          <a:ln/>
        </p:spPr>
        <p:txBody>
          <a:bodyPr wrap="square" lIns="0" tIns="0" rIns="0" bIns="0" rtlCol="0" anchor="t"/>
          <a:lstStyle/>
          <a:p>
            <a:pPr indent="0" marL="0">
              <a:buNone/>
            </a:pPr>
            <a:r>
              <a:rPr lang="en-US" sz="3400" b="1" dirty="0">
                <a:solidFill>
                  <a:schemeClr val="tx1"/>
                </a:solidFill>
              </a:rPr>
              <a:t>R120 - R240</a:t>
            </a:r>
            <a:endParaRPr lang="en-US" sz="3400" dirty="0"/>
          </a:p>
        </p:txBody>
      </p:sp>
      <p:sp>
        <p:nvSpPr>
          <p:cNvPr id="23" name="Text 17"/>
          <p:cNvSpPr txBox="1"/>
          <p:nvPr/>
        </p:nvSpPr>
        <p:spPr>
          <a:xfrm>
            <a:off x="868680" y="5577840"/>
            <a:ext cx="2743200" cy="502920"/>
          </a:xfrm>
          <a:prstGeom prst="rect">
            <a:avLst/>
          </a:prstGeom>
          <a:noFill/>
          <a:ln/>
        </p:spPr>
        <p:txBody>
          <a:bodyPr wrap="square" lIns="0" tIns="0" rIns="0" bIns="0" rtlCol="0" anchor="t"/>
          <a:lstStyle/>
          <a:p>
            <a:pPr indent="0" marL="0">
              <a:buNone/>
            </a:pPr>
            <a:r>
              <a:rPr lang="en-US" sz="1400" dirty="0">
                <a:solidFill>
                  <a:schemeClr val="tx1"/>
                </a:solidFill>
              </a:rPr>
              <a:t>per item: tees, hoodies, crop &amp; drag tops</a:t>
            </a:r>
            <a:endParaRPr lang="en-US" sz="1400" dirty="0"/>
          </a:p>
        </p:txBody>
      </p:sp>
      <p:sp>
        <p:nvSpPr>
          <p:cNvPr id="24" name="Text 18"/>
          <p:cNvSpPr txBox="1"/>
          <p:nvPr/>
        </p:nvSpPr>
        <p:spPr>
          <a:xfrm>
            <a:off x="3886200" y="4937760"/>
            <a:ext cx="3017520" cy="1143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Product sales to students</a:t>
            </a:r>
            <a:endParaRPr lang="en-US" sz="1500" dirty="0"/>
          </a:p>
          <a:p>
            <a:pPr marL="342900" indent="-342900">
              <a:spcAft>
                <a:spcPts val="600"/>
              </a:spcAft>
              <a:buSzPct val="100000"/>
              <a:buChar char="•"/>
            </a:pPr>
            <a:r>
              <a:rPr lang="en-US" sz="1500" dirty="0">
                <a:solidFill>
                  <a:schemeClr val="tx1"/>
                </a:solidFill>
              </a:rPr>
              <a:t>Bulk orders: classes &amp; societies</a:t>
            </a:r>
            <a:endParaRPr lang="en-US" sz="1500" dirty="0"/>
          </a:p>
          <a:p>
            <a:pPr marL="342900" indent="-342900">
              <a:spcAft>
                <a:spcPts val="600"/>
              </a:spcAft>
              <a:buSzPct val="100000"/>
              <a:buChar char="•"/>
            </a:pPr>
            <a:r>
              <a:rPr lang="en-US" sz="1500" dirty="0">
                <a:solidFill>
                  <a:schemeClr val="tx1"/>
                </a:solidFill>
              </a:rPr>
              <a:t>Limited drops &amp; new designs</a:t>
            </a:r>
            <a:endParaRPr lang="en-US" sz="1500" dirty="0"/>
          </a:p>
        </p:txBody>
      </p:sp>
      <p:sp>
        <p:nvSpPr>
          <p:cNvPr id="25" name="Cost card"/>
          <p:cNvSpPr/>
          <p:nvPr/>
        </p:nvSpPr>
        <p:spPr>
          <a:xfrm>
            <a:off x="7269480" y="4069080"/>
            <a:ext cx="4279392" cy="2103120"/>
          </a:xfrm>
          <a:prstGeom prst="roundRect">
            <a:avLst>
              <a:gd name="adj" fmla="val 5217"/>
            </a:avLst>
          </a:prstGeom>
          <a:solidFill>
            <a:schemeClr val="tx1"/>
          </a:solidFill>
          <a:ln/>
        </p:spPr>
      </p:sp>
      <p:sp>
        <p:nvSpPr>
          <p:cNvPr id="26" name="Costs circle"/>
          <p:cNvSpPr/>
          <p:nvPr/>
        </p:nvSpPr>
        <p:spPr>
          <a:xfrm>
            <a:off x="7498080" y="4251960"/>
            <a:ext cx="502920" cy="502920"/>
          </a:xfrm>
          <a:prstGeom prst="ellipse">
            <a:avLst/>
          </a:prstGeom>
          <a:solidFill>
            <a:schemeClr val="accent1"/>
          </a:solidFill>
          <a:ln/>
        </p:spPr>
      </p:sp>
      <p:pic>
        <p:nvPicPr>
          <p:cNvPr id="27" name="Costs icon" descr="Costs">    </p:cNvPr>
          <p:cNvPicPr>
            <a:picLocks noChangeAspect="1"/>
          </p:cNvPicPr>
          <p:nvPr/>
        </p:nvPicPr>
        <p:blipFill>
          <a:blip r:embed="rId5"/>
          <a:stretch>
            <a:fillRect/>
          </a:stretch>
        </p:blipFill>
        <p:spPr>
          <a:xfrm>
            <a:off x="7633868" y="4387748"/>
            <a:ext cx="231343" cy="231343"/>
          </a:xfrm>
          <a:prstGeom prst="rect">
            <a:avLst/>
          </a:prstGeom>
        </p:spPr>
      </p:pic>
      <p:sp>
        <p:nvSpPr>
          <p:cNvPr id="28" name="Text 21"/>
          <p:cNvSpPr txBox="1"/>
          <p:nvPr/>
        </p:nvSpPr>
        <p:spPr>
          <a:xfrm>
            <a:off x="8183880" y="4251960"/>
            <a:ext cx="3108960" cy="502920"/>
          </a:xfrm>
          <a:prstGeom prst="rect">
            <a:avLst/>
          </a:prstGeom>
          <a:noFill/>
          <a:ln/>
        </p:spPr>
        <p:txBody>
          <a:bodyPr wrap="square" lIns="0" tIns="0" rIns="0" bIns="0" rtlCol="0" anchor="ctr"/>
          <a:lstStyle/>
          <a:p>
            <a:pPr indent="0" marL="0">
              <a:buNone/>
            </a:pPr>
            <a:r>
              <a:rPr lang="en-US" sz="1400" b="1" spc="100" kern="0" dirty="0">
                <a:solidFill>
                  <a:schemeClr val="accent1"/>
                </a:solidFill>
              </a:rPr>
              <a:t>COST STRUCTURE</a:t>
            </a:r>
            <a:endParaRPr lang="en-US" sz="1400" dirty="0"/>
          </a:p>
        </p:txBody>
      </p:sp>
      <p:sp>
        <p:nvSpPr>
          <p:cNvPr id="29" name="Text 22"/>
          <p:cNvSpPr txBox="1"/>
          <p:nvPr/>
        </p:nvSpPr>
        <p:spPr>
          <a:xfrm>
            <a:off x="7543800" y="4937760"/>
            <a:ext cx="3749040" cy="1143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Stock &amp; printing</a:t>
            </a:r>
            <a:endParaRPr lang="en-US" sz="1400" dirty="0"/>
          </a:p>
          <a:p>
            <a:pPr marL="342900" indent="-342900">
              <a:spcAft>
                <a:spcPts val="600"/>
              </a:spcAft>
              <a:buSzPct val="100000"/>
              <a:buChar char="•"/>
            </a:pPr>
            <a:r>
              <a:rPr lang="en-US" sz="1400" dirty="0">
                <a:solidFill>
                  <a:schemeClr val="bg1"/>
                </a:solidFill>
              </a:rPr>
              <a:t>Free residence delivery + 20% discount</a:t>
            </a:r>
            <a:endParaRPr lang="en-US" sz="1400" dirty="0"/>
          </a:p>
          <a:p>
            <a:pPr marL="342900" indent="-342900">
              <a:spcAft>
                <a:spcPts val="600"/>
              </a:spcAft>
              <a:buSzPct val="100000"/>
              <a:buChar char="•"/>
            </a:pPr>
            <a:r>
              <a:rPr lang="en-US" sz="1400" dirty="0">
                <a:solidFill>
                  <a:schemeClr val="bg1"/>
                </a:solidFill>
              </a:rPr>
              <a:t>Hosting, payment &amp; email fees</a:t>
            </a:r>
            <a:endParaRPr lang="en-US" sz="14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lose orange circle"/>
          <p:cNvSpPr/>
          <p:nvPr/>
        </p:nvSpPr>
        <p:spPr>
          <a:xfrm>
            <a:off x="9235440" y="3657600"/>
            <a:ext cx="2743200" cy="2743200"/>
          </a:xfrm>
          <a:prstGeom prst="ellipse">
            <a:avLst/>
          </a:prstGeom>
          <a:solidFill>
            <a:schemeClr val="accent1"/>
          </a:solidFill>
          <a:ln/>
        </p:spPr>
      </p:sp>
      <p:pic>
        <p:nvPicPr>
          <p:cNvPr id="3" name="Storefront screenshot" descr="ItemHive storefront with 20% student discount banner and featured gear">    </p:cNvPr>
          <p:cNvPicPr>
            <a:picLocks noChangeAspect="1"/>
          </p:cNvPicPr>
          <p:nvPr/>
        </p:nvPicPr>
        <p:blipFill>
          <a:blip r:embed="rId1"/>
          <a:stretch>
            <a:fillRect/>
          </a:stretch>
        </p:blipFill>
        <p:spPr>
          <a:xfrm>
            <a:off x="6263640" y="1828800"/>
            <a:ext cx="5486400" cy="2601468"/>
          </a:xfrm>
          <a:prstGeom prst="rect">
            <a:avLst/>
          </a:prstGeom>
        </p:spPr>
      </p:pic>
      <p:sp>
        <p:nvSpPr>
          <p:cNvPr id="4" name="Text 1"/>
          <p:cNvSpPr txBox="1"/>
          <p:nvPr/>
        </p:nvSpPr>
        <p:spPr>
          <a:xfrm>
            <a:off x="640080" y="1463040"/>
            <a:ext cx="5669280" cy="320040"/>
          </a:xfrm>
          <a:prstGeom prst="rect">
            <a:avLst/>
          </a:prstGeom>
          <a:noFill/>
          <a:ln/>
        </p:spPr>
        <p:txBody>
          <a:bodyPr wrap="square" lIns="0" tIns="0" rIns="0" bIns="0" rtlCol="0" anchor="t"/>
          <a:lstStyle/>
          <a:p>
            <a:pPr indent="0" marL="0">
              <a:buNone/>
            </a:pPr>
            <a:r>
              <a:rPr lang="en-US" sz="1400" b="1" spc="200" kern="0" dirty="0">
                <a:solidFill>
                  <a:schemeClr val="accent1"/>
                </a:solidFill>
              </a:rPr>
              <a:t>IN SHORT</a:t>
            </a:r>
            <a:endParaRPr lang="en-US" sz="1400" dirty="0"/>
          </a:p>
        </p:txBody>
      </p:sp>
      <p:sp>
        <p:nvSpPr>
          <p:cNvPr id="5" name="Text 0"/>
          <p:cNvSpPr/>
          <p:nvPr>
            <p:ph idx="100" type="title" hasCustomPrompt="1"/>
          </p:nvPr>
        </p:nvSpPr>
        <p:spPr>
          <a:xfrm>
            <a:off x="640080" y="1920240"/>
            <a:ext cx="5669280" cy="1371600"/>
          </a:xfrm>
          <a:prstGeom prst="rect">
            <a:avLst/>
          </a:prstGeom>
          <a:noFill/>
          <a:ln/>
        </p:spPr>
        <p:txBody>
          <a:bodyPr wrap="square" lIns="0" tIns="0" rIns="0" bIns="0" rtlCol="0" anchor="ctr"/>
          <a:lstStyle/>
          <a:p>
            <a:pPr algn="l" indent="0" marL="0">
              <a:buNone/>
            </a:pPr>
            <a:r>
              <a:rPr lang="en-US" sz="5400" b="1" dirty="0">
                <a:solidFill>
                  <a:schemeClr val="bg1"/>
                </a:solidFill>
              </a:rPr>
              <a:t>Wear your code.</a:t>
            </a:r>
            <a:endParaRPr lang="en-US" sz="5400" dirty="0"/>
          </a:p>
        </p:txBody>
      </p:sp>
      <p:sp>
        <p:nvSpPr>
          <p:cNvPr id="6" name="Text 3"/>
          <p:cNvSpPr txBox="1"/>
          <p:nvPr/>
        </p:nvSpPr>
        <p:spPr>
          <a:xfrm>
            <a:off x="640080" y="3474720"/>
            <a:ext cx="5394960" cy="1645920"/>
          </a:xfrm>
          <a:prstGeom prst="rect">
            <a:avLst/>
          </a:prstGeom>
          <a:noFill/>
          <a:ln/>
        </p:spPr>
        <p:txBody>
          <a:bodyPr wrap="square" lIns="0" tIns="0" rIns="0" bIns="0" rtlCol="0" anchor="t"/>
          <a:lstStyle/>
          <a:p>
            <a:pPr indent="0" marL="0">
              <a:buNone/>
            </a:pPr>
            <a:r>
              <a:rPr lang="en-US" sz="2000" dirty="0">
                <a:solidFill>
                  <a:schemeClr val="bg1"/>
                </a:solidFill>
              </a:rPr>
              <a:t>ItemHive gives ICT students a simple, safe way to buy gear that shows who they are, and gives us a lean shop that grows with every class, society and drop.</a:t>
            </a:r>
            <a:endParaRPr lang="en-US" sz="2000" dirty="0"/>
          </a:p>
        </p:txBody>
      </p:sp>
      <p:sp>
        <p:nvSpPr>
          <p:cNvPr id="7" name="Pill Simple"/>
          <p:cNvSpPr/>
          <p:nvPr/>
        </p:nvSpPr>
        <p:spPr>
          <a:xfrm>
            <a:off x="640080" y="5349240"/>
            <a:ext cx="1371600" cy="457200"/>
          </a:xfrm>
          <a:prstGeom prst="roundRect">
            <a:avLst>
              <a:gd name="adj" fmla="val 50000"/>
            </a:avLst>
          </a:prstGeom>
          <a:solidFill>
            <a:schemeClr val="accent1"/>
          </a:solidFill>
          <a:ln/>
        </p:spPr>
      </p:sp>
      <p:sp>
        <p:nvSpPr>
          <p:cNvPr id="8" name="Text 5"/>
          <p:cNvSpPr txBox="1"/>
          <p:nvPr/>
        </p:nvSpPr>
        <p:spPr>
          <a:xfrm>
            <a:off x="640080" y="5349240"/>
            <a:ext cx="1371600" cy="457200"/>
          </a:xfrm>
          <a:prstGeom prst="rect">
            <a:avLst/>
          </a:prstGeom>
          <a:noFill/>
          <a:ln/>
        </p:spPr>
        <p:txBody>
          <a:bodyPr wrap="square" lIns="0" tIns="0" rIns="0" bIns="0" rtlCol="0" anchor="ctr"/>
          <a:lstStyle/>
          <a:p>
            <a:pPr algn="ctr" indent="0" marL="0">
              <a:buNone/>
            </a:pPr>
            <a:r>
              <a:rPr lang="en-US" sz="1500" b="1" dirty="0">
                <a:solidFill>
                  <a:schemeClr val="tx1"/>
                </a:solidFill>
              </a:rPr>
              <a:t>Simple</a:t>
            </a:r>
            <a:endParaRPr lang="en-US" sz="1500" dirty="0"/>
          </a:p>
        </p:txBody>
      </p:sp>
      <p:sp>
        <p:nvSpPr>
          <p:cNvPr id="9" name="Pill Safe"/>
          <p:cNvSpPr/>
          <p:nvPr/>
        </p:nvSpPr>
        <p:spPr>
          <a:xfrm>
            <a:off x="2194560" y="5349240"/>
            <a:ext cx="1188720" cy="457200"/>
          </a:xfrm>
          <a:prstGeom prst="roundRect">
            <a:avLst>
              <a:gd name="adj" fmla="val 50000"/>
            </a:avLst>
          </a:prstGeom>
          <a:solidFill>
            <a:schemeClr val="accent1"/>
          </a:solidFill>
          <a:ln/>
        </p:spPr>
      </p:sp>
      <p:sp>
        <p:nvSpPr>
          <p:cNvPr id="10" name="Text 7"/>
          <p:cNvSpPr txBox="1"/>
          <p:nvPr/>
        </p:nvSpPr>
        <p:spPr>
          <a:xfrm>
            <a:off x="2194560" y="5349240"/>
            <a:ext cx="1188720" cy="457200"/>
          </a:xfrm>
          <a:prstGeom prst="rect">
            <a:avLst/>
          </a:prstGeom>
          <a:noFill/>
          <a:ln/>
        </p:spPr>
        <p:txBody>
          <a:bodyPr wrap="square" lIns="0" tIns="0" rIns="0" bIns="0" rtlCol="0" anchor="ctr"/>
          <a:lstStyle/>
          <a:p>
            <a:pPr algn="ctr" indent="0" marL="0">
              <a:buNone/>
            </a:pPr>
            <a:r>
              <a:rPr lang="en-US" sz="1500" b="1" dirty="0">
                <a:solidFill>
                  <a:schemeClr val="tx1"/>
                </a:solidFill>
              </a:rPr>
              <a:t>Safe</a:t>
            </a:r>
            <a:endParaRPr lang="en-US" sz="1500" dirty="0"/>
          </a:p>
        </p:txBody>
      </p:sp>
      <p:sp>
        <p:nvSpPr>
          <p:cNvPr id="11" name="Pill Student-priced"/>
          <p:cNvSpPr/>
          <p:nvPr/>
        </p:nvSpPr>
        <p:spPr>
          <a:xfrm>
            <a:off x="3566160" y="5349240"/>
            <a:ext cx="2103120" cy="457200"/>
          </a:xfrm>
          <a:prstGeom prst="roundRect">
            <a:avLst>
              <a:gd name="adj" fmla="val 50000"/>
            </a:avLst>
          </a:prstGeom>
          <a:solidFill>
            <a:schemeClr val="accent1"/>
          </a:solidFill>
          <a:ln/>
        </p:spPr>
      </p:sp>
      <p:sp>
        <p:nvSpPr>
          <p:cNvPr id="12" name="Text 9"/>
          <p:cNvSpPr txBox="1"/>
          <p:nvPr/>
        </p:nvSpPr>
        <p:spPr>
          <a:xfrm>
            <a:off x="3566160" y="5349240"/>
            <a:ext cx="2103120" cy="457200"/>
          </a:xfrm>
          <a:prstGeom prst="rect">
            <a:avLst/>
          </a:prstGeom>
          <a:noFill/>
          <a:ln/>
        </p:spPr>
        <p:txBody>
          <a:bodyPr wrap="square" lIns="0" tIns="0" rIns="0" bIns="0" rtlCol="0" anchor="ctr"/>
          <a:lstStyle/>
          <a:p>
            <a:pPr algn="ctr" indent="0" marL="0">
              <a:buNone/>
            </a:pPr>
            <a:r>
              <a:rPr lang="en-US" sz="1500" b="1" dirty="0">
                <a:solidFill>
                  <a:schemeClr val="tx1"/>
                </a:solidFill>
              </a:rPr>
              <a:t>Student-priced</a:t>
            </a:r>
            <a:endParaRPr lang="en-US" sz="1500" dirty="0"/>
          </a:p>
        </p:txBody>
      </p:sp>
      <p:sp>
        <p:nvSpPr>
          <p:cNvPr id="13" name="Text 10"/>
          <p:cNvSpPr txBox="1"/>
          <p:nvPr/>
        </p:nvSpPr>
        <p:spPr>
          <a:xfrm>
            <a:off x="640080" y="6309360"/>
            <a:ext cx="5486400" cy="274320"/>
          </a:xfrm>
          <a:prstGeom prst="rect">
            <a:avLst/>
          </a:prstGeom>
          <a:noFill/>
          <a:ln/>
        </p:spPr>
        <p:txBody>
          <a:bodyPr wrap="square" lIns="0" tIns="0" rIns="0" bIns="0" rtlCol="0" anchor="t"/>
          <a:lstStyle/>
          <a:p>
            <a:pPr indent="0" marL="0">
              <a:buNone/>
            </a:pPr>
            <a:r>
              <a:rPr lang="en-US" sz="1200" b="1" spc="300" kern="0" dirty="0">
                <a:solidFill>
                  <a:srgbClr val="CCCCCC"/>
                </a:solidFill>
              </a:rPr>
              <a:t>CODE.CREATE.CONNECT</a:t>
            </a:r>
            <a:endParaRPr lang="en-US" sz="1200" dirty="0"/>
          </a:p>
        </p:txBody>
      </p:sp>
    </p:spTree>
  </p:cSld>
  <p:clrMapOvr>
    <a:masterClrMapping/>
  </p:clrMapOvr>
</p:sld>
</file>

<file path=ppt/theme/theme1.xml><?xml version="1.0" encoding="utf-8"?>
<a:theme xmlns:a="http://schemas.openxmlformats.org/drawingml/2006/main" name="ItemHive Pitch">
  <a:themeElements>
    <a:clrScheme name="ItemHive Pitch">
      <a:dk1>
        <a:srgbClr val="101D56"/>
      </a:dk1>
      <a:lt1>
        <a:srgbClr val="FFFFFF"/>
      </a:lt1>
      <a:dk2>
        <a:srgbClr val="0B1340"/>
      </a:dk2>
      <a:lt2>
        <a:srgbClr val="F2F4FA"/>
      </a:lt2>
      <a:accent1>
        <a:srgbClr val="FF751F"/>
      </a:accent1>
      <a:accent2>
        <a:srgbClr val="0097B2"/>
      </a:accent2>
      <a:accent3>
        <a:srgbClr val="101D56"/>
      </a:accent3>
      <a:accent4>
        <a:srgbClr val="CCCCCC"/>
      </a:accent4>
      <a:accent5>
        <a:srgbClr val="FFB066"/>
      </a:accent5>
      <a:accent6>
        <a:srgbClr val="7FD0E0"/>
      </a:accent6>
      <a:hlink>
        <a:srgbClr val="0097B2"/>
      </a:hlink>
      <a:folHlink>
        <a:srgbClr val="101D56"/>
      </a:folHlink>
    </a:clrScheme>
    <a:fontScheme name="ItemHive Pit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ItemHive - 3 minute pitch</dc:title>
  <dc:subject>PptxGenJS Presentation</dc:subject>
  <dc:creator>ICT Branded team</dc:creator>
  <cp:lastModifiedBy>ICT Branded team</cp:lastModifiedBy>
  <cp:revision>1</cp:revision>
  <dcterms:created xsi:type="dcterms:W3CDTF">2026-10-27T08:01:56Z</dcterms:created>
  <dcterms:modified xsi:type="dcterms:W3CDTF">2026-10-27T08:01:56Z</dcterms:modified>
</cp:coreProperties>
</file>